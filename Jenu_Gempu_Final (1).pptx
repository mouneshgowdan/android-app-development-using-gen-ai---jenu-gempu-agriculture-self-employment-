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45720" y="27432"/>
            <a:ext cx="841248" cy="841248"/>
          </a:xfrm>
          <a:prstGeom prst="rect">
            <a:avLst/>
          </a:prstGeom>
        </p:spPr>
      </p:pic>
      <p:pic>
        <p:nvPicPr>
          <p:cNvPr id="4" name="Image 1" descr="/home/claude/unpacked_orig/ppt/media/image2.jpeg">    </p:cNvPr>
          <p:cNvPicPr>
            <a:picLocks noChangeAspect="1"/>
          </p:cNvPicPr>
          <p:nvPr/>
        </p:nvPicPr>
        <p:blipFill>
          <a:blip r:embed="rId2"/>
          <a:stretch>
            <a:fillRect/>
          </a:stretch>
        </p:blipFill>
        <p:spPr>
          <a:xfrm>
            <a:off x="8183880" y="18288"/>
            <a:ext cx="896112" cy="877824"/>
          </a:xfrm>
          <a:prstGeom prst="rect">
            <a:avLst/>
          </a:prstGeom>
        </p:spPr>
      </p:pic>
      <p:sp>
        <p:nvSpPr>
          <p:cNvPr id="5" name="Text 1"/>
          <p:cNvSpPr/>
          <p:nvPr/>
        </p:nvSpPr>
        <p:spPr>
          <a:xfrm>
            <a:off x="896112" y="18288"/>
            <a:ext cx="7269480" cy="502920"/>
          </a:xfrm>
          <a:prstGeom prst="rect">
            <a:avLst/>
          </a:prstGeom>
          <a:noFill/>
          <a:ln/>
        </p:spPr>
        <p:txBody>
          <a:bodyPr wrap="square" rtlCol="0" anchor="ctr"/>
          <a:lstStyle/>
          <a:p>
            <a:pPr algn="ctr" indent="0" marL="0">
              <a:buNone/>
            </a:pPr>
            <a:r>
              <a:rPr lang="en-US" sz="2600" b="1" dirty="0">
                <a:solidFill>
                  <a:srgbClr val="8B2500"/>
                </a:solidFill>
                <a:latin typeface="Arial Black" pitchFamily="34" charset="0"/>
                <a:ea typeface="Arial Black" pitchFamily="34" charset="-122"/>
                <a:cs typeface="Arial Black" pitchFamily="34" charset="-120"/>
              </a:rPr>
              <a:t>SAI VIDYA INSTITUTE OF TECHNOLOGY</a:t>
            </a:r>
            <a:endParaRPr lang="en-US" sz="2600" dirty="0"/>
          </a:p>
        </p:txBody>
      </p:sp>
      <p:sp>
        <p:nvSpPr>
          <p:cNvPr id="6" name="Text 2"/>
          <p:cNvSpPr/>
          <p:nvPr/>
        </p:nvSpPr>
        <p:spPr>
          <a:xfrm>
            <a:off x="896112" y="521208"/>
            <a:ext cx="7269480" cy="347472"/>
          </a:xfrm>
          <a:prstGeom prst="rect">
            <a:avLst/>
          </a:prstGeom>
          <a:noFill/>
          <a:ln/>
        </p:spPr>
        <p:txBody>
          <a:bodyPr wrap="square" rtlCol="0" anchor="ctr"/>
          <a:lstStyle/>
          <a:p>
            <a:pPr algn="ctr" indent="0" marL="0">
              <a:buNone/>
            </a:pPr>
            <a:r>
              <a:rPr lang="en-US" sz="900" dirty="0">
                <a:solidFill>
                  <a:srgbClr val="0D3349"/>
                </a:solidFill>
                <a:latin typeface="Arial" pitchFamily="34" charset="0"/>
                <a:ea typeface="Arial" pitchFamily="34" charset="-122"/>
                <a:cs typeface="Arial" pitchFamily="34" charset="-120"/>
              </a:rPr>
              <a:t>Approved by AICTE, New Delhi, Affiliated to VTU, Recognized by Govt. of Karnataka, Accredited by NBA, New Delhi (CSE, ECE. ISE) NAAC "A" Grade</a:t>
            </a:r>
            <a:endParaRPr lang="en-US" sz="900" dirty="0"/>
          </a:p>
        </p:txBody>
      </p:sp>
      <p:sp>
        <p:nvSpPr>
          <p:cNvPr id="7" name="Text 3"/>
          <p:cNvSpPr/>
          <p:nvPr/>
        </p:nvSpPr>
        <p:spPr>
          <a:xfrm>
            <a:off x="274320" y="960120"/>
            <a:ext cx="8595360" cy="731520"/>
          </a:xfrm>
          <a:prstGeom prst="rect">
            <a:avLst/>
          </a:prstGeom>
          <a:noFill/>
          <a:ln/>
        </p:spPr>
        <p:txBody>
          <a:bodyPr wrap="square" rtlCol="0" anchor="ctr"/>
          <a:lstStyle/>
          <a:p>
            <a:pPr algn="ctr" indent="0" marL="0">
              <a:buNone/>
            </a:pPr>
            <a:r>
              <a:rPr lang="en-US" sz="2200" b="1" dirty="0">
                <a:solidFill>
                  <a:srgbClr val="0D3349"/>
                </a:solidFill>
                <a:latin typeface="Arial Black" pitchFamily="34" charset="0"/>
                <a:ea typeface="Arial Black" pitchFamily="34" charset="-122"/>
                <a:cs typeface="Arial Black" pitchFamily="34" charset="-120"/>
              </a:rPr>
              <a:t>DEPARTMENT OF CSE (ARTIFICIAL INTELLIGENCE &amp;</a:t>
            </a:r>
            <a:endParaRPr lang="en-US" sz="2200" dirty="0"/>
          </a:p>
          <a:p>
            <a:pPr algn="ctr" indent="0" marL="0">
              <a:buNone/>
            </a:pPr>
            <a:r>
              <a:rPr lang="en-US" sz="2200" b="1" dirty="0">
                <a:solidFill>
                  <a:srgbClr val="0D3349"/>
                </a:solidFill>
                <a:latin typeface="Arial Black" pitchFamily="34" charset="0"/>
                <a:ea typeface="Arial Black" pitchFamily="34" charset="-122"/>
                <a:cs typeface="Arial Black" pitchFamily="34" charset="-120"/>
              </a:rPr>
              <a:t>MACHINE LEARNING)</a:t>
            </a:r>
            <a:endParaRPr lang="en-US" sz="2200" dirty="0"/>
          </a:p>
        </p:txBody>
      </p:sp>
      <p:sp>
        <p:nvSpPr>
          <p:cNvPr id="8" name="Text 4"/>
          <p:cNvSpPr/>
          <p:nvPr/>
        </p:nvSpPr>
        <p:spPr>
          <a:xfrm>
            <a:off x="274320" y="1664208"/>
            <a:ext cx="8595360" cy="347472"/>
          </a:xfrm>
          <a:prstGeom prst="rect">
            <a:avLst/>
          </a:prstGeom>
          <a:noFill/>
          <a:ln/>
        </p:spPr>
        <p:txBody>
          <a:bodyPr wrap="square" rtlCol="0" anchor="ctr"/>
          <a:lstStyle/>
          <a:p>
            <a:pPr algn="ctr" indent="0" marL="0">
              <a:buNone/>
            </a:pPr>
            <a:r>
              <a:rPr lang="en-US" sz="1600" b="1" dirty="0">
                <a:solidFill>
                  <a:srgbClr val="8B2500"/>
                </a:solidFill>
                <a:latin typeface="Arial Black" pitchFamily="34" charset="0"/>
                <a:ea typeface="Arial Black" pitchFamily="34" charset="-122"/>
                <a:cs typeface="Arial Black" pitchFamily="34" charset="-120"/>
              </a:rPr>
              <a:t>BCI803: INTERNSHIP(INDUSTRY/RESEARCH)</a:t>
            </a:r>
            <a:endParaRPr lang="en-US" sz="1600" dirty="0"/>
          </a:p>
        </p:txBody>
      </p:sp>
      <p:sp>
        <p:nvSpPr>
          <p:cNvPr id="9" name="Text 5"/>
          <p:cNvSpPr/>
          <p:nvPr/>
        </p:nvSpPr>
        <p:spPr>
          <a:xfrm>
            <a:off x="274320" y="2029968"/>
            <a:ext cx="8595360" cy="384048"/>
          </a:xfrm>
          <a:prstGeom prst="rect">
            <a:avLst/>
          </a:prstGeom>
          <a:noFill/>
          <a:ln/>
        </p:spPr>
        <p:txBody>
          <a:bodyPr wrap="square" rtlCol="0" anchor="ctr"/>
          <a:lstStyle/>
          <a:p>
            <a:pPr algn="ctr" indent="0" marL="0">
              <a:buNone/>
            </a:pPr>
            <a:r>
              <a:rPr lang="en-US" sz="2000" b="1" dirty="0">
                <a:solidFill>
                  <a:srgbClr val="0D3349"/>
                </a:solidFill>
                <a:latin typeface="Arial Black" pitchFamily="34" charset="0"/>
                <a:ea typeface="Arial Black" pitchFamily="34" charset="-122"/>
                <a:cs typeface="Arial Black" pitchFamily="34" charset="-120"/>
              </a:rPr>
              <a:t>NAME OF THE ORGANISATION : MindMatrix</a:t>
            </a:r>
            <a:endParaRPr lang="en-US" sz="2000" dirty="0"/>
          </a:p>
        </p:txBody>
      </p:sp>
      <p:sp>
        <p:nvSpPr>
          <p:cNvPr id="10" name="Text 6"/>
          <p:cNvSpPr/>
          <p:nvPr/>
        </p:nvSpPr>
        <p:spPr>
          <a:xfrm>
            <a:off x="914400" y="2450592"/>
            <a:ext cx="7315200" cy="640080"/>
          </a:xfrm>
          <a:prstGeom prst="rect">
            <a:avLst/>
          </a:prstGeom>
          <a:noFill/>
          <a:ln/>
        </p:spPr>
        <p:txBody>
          <a:bodyPr wrap="square" rtlCol="0" anchor="ctr"/>
          <a:lstStyle/>
          <a:p>
            <a:pPr algn="ctr" indent="0" marL="0">
              <a:buNone/>
            </a:pPr>
            <a:r>
              <a:rPr lang="en-US" sz="1400" b="1" dirty="0">
                <a:solidFill>
                  <a:srgbClr val="8B2500"/>
                </a:solidFill>
                <a:latin typeface="Arial" pitchFamily="34" charset="0"/>
                <a:ea typeface="Arial" pitchFamily="34" charset="-122"/>
                <a:cs typeface="Arial" pitchFamily="34" charset="-120"/>
              </a:rPr>
              <a:t>PROJECT: JENU GEMPU</a:t>
            </a:r>
            <a:endParaRPr lang="en-US" sz="1400" dirty="0"/>
          </a:p>
          <a:p>
            <a:pPr algn="ctr" indent="0" marL="0">
              <a:buNone/>
            </a:pPr>
            <a:r>
              <a:rPr lang="en-US" sz="1400" b="1" dirty="0">
                <a:solidFill>
                  <a:srgbClr val="8B2500"/>
                </a:solidFill>
                <a:latin typeface="Arial" pitchFamily="34" charset="0"/>
                <a:ea typeface="Arial" pitchFamily="34" charset="-122"/>
                <a:cs typeface="Arial" pitchFamily="34" charset="-120"/>
              </a:rPr>
              <a:t>(Android App Development using Gen AI - Agriculture/Self-Employment)</a:t>
            </a:r>
            <a:endParaRPr lang="en-US" sz="1400" dirty="0"/>
          </a:p>
        </p:txBody>
      </p:sp>
      <p:sp>
        <p:nvSpPr>
          <p:cNvPr id="11" name="Text 7"/>
          <p:cNvSpPr/>
          <p:nvPr/>
        </p:nvSpPr>
        <p:spPr>
          <a:xfrm>
            <a:off x="228600" y="3246120"/>
            <a:ext cx="4114800" cy="274320"/>
          </a:xfrm>
          <a:prstGeom prst="rect">
            <a:avLst/>
          </a:prstGeom>
          <a:noFill/>
          <a:ln/>
        </p:spPr>
        <p:txBody>
          <a:bodyPr wrap="square" rtlCol="0" anchor="ctr"/>
          <a:lstStyle/>
          <a:p>
            <a:pPr indent="0" marL="0">
              <a:buNone/>
            </a:pPr>
            <a:r>
              <a:rPr lang="en-US" sz="1600" b="1" dirty="0">
                <a:solidFill>
                  <a:srgbClr val="0D3349"/>
                </a:solidFill>
                <a:latin typeface="Arial Black" pitchFamily="34" charset="0"/>
                <a:ea typeface="Arial Black" pitchFamily="34" charset="-122"/>
                <a:cs typeface="Arial Black" pitchFamily="34" charset="-120"/>
              </a:rPr>
              <a:t>PRESENTED BY,</a:t>
            </a:r>
            <a:endParaRPr lang="en-US" sz="1600" dirty="0"/>
          </a:p>
        </p:txBody>
      </p:sp>
      <p:sp>
        <p:nvSpPr>
          <p:cNvPr id="12" name="Text 8"/>
          <p:cNvSpPr/>
          <p:nvPr/>
        </p:nvSpPr>
        <p:spPr>
          <a:xfrm>
            <a:off x="228600" y="3538728"/>
            <a:ext cx="4114800" cy="320040"/>
          </a:xfrm>
          <a:prstGeom prst="rect">
            <a:avLst/>
          </a:prstGeom>
          <a:noFill/>
          <a:ln/>
        </p:spPr>
        <p:txBody>
          <a:bodyPr wrap="square" rtlCol="0" anchor="ctr"/>
          <a:lstStyle/>
          <a:p>
            <a:pPr indent="0" marL="0">
              <a:buNone/>
            </a:pPr>
            <a:r>
              <a:rPr lang="en-US" sz="1500" b="1" dirty="0">
                <a:solidFill>
                  <a:srgbClr val="0D3349"/>
                </a:solidFill>
                <a:latin typeface="Arial Black" pitchFamily="34" charset="0"/>
                <a:ea typeface="Arial Black" pitchFamily="34" charset="-122"/>
                <a:cs typeface="Arial Black" pitchFamily="34" charset="-120"/>
              </a:rPr>
              <a:t>STUDENT NAME: MOUNESH.N (1VA22CI058)</a:t>
            </a:r>
            <a:endParaRPr lang="en-US" sz="1500" dirty="0"/>
          </a:p>
        </p:txBody>
      </p:sp>
      <p:sp>
        <p:nvSpPr>
          <p:cNvPr id="13" name="Text 9"/>
          <p:cNvSpPr/>
          <p:nvPr/>
        </p:nvSpPr>
        <p:spPr>
          <a:xfrm>
            <a:off x="4480560" y="3246120"/>
            <a:ext cx="4572000" cy="274320"/>
          </a:xfrm>
          <a:prstGeom prst="rect">
            <a:avLst/>
          </a:prstGeom>
          <a:noFill/>
          <a:ln/>
        </p:spPr>
        <p:txBody>
          <a:bodyPr wrap="square" rtlCol="0" anchor="ctr"/>
          <a:lstStyle/>
          <a:p>
            <a:pPr indent="0" marL="0">
              <a:buNone/>
            </a:pPr>
            <a:r>
              <a:rPr lang="en-US" sz="1600" b="1" dirty="0">
                <a:solidFill>
                  <a:srgbClr val="0D3349"/>
                </a:solidFill>
                <a:latin typeface="Arial Black" pitchFamily="34" charset="0"/>
                <a:ea typeface="Arial Black" pitchFamily="34" charset="-122"/>
                <a:cs typeface="Arial Black" pitchFamily="34" charset="-120"/>
              </a:rPr>
              <a:t>UNDER THE SUPERVISION OF:</a:t>
            </a:r>
            <a:endParaRPr lang="en-US" sz="1600" dirty="0"/>
          </a:p>
        </p:txBody>
      </p:sp>
      <p:sp>
        <p:nvSpPr>
          <p:cNvPr id="14" name="Text 10"/>
          <p:cNvSpPr/>
          <p:nvPr/>
        </p:nvSpPr>
        <p:spPr>
          <a:xfrm>
            <a:off x="4480560" y="3538728"/>
            <a:ext cx="4572000" cy="274320"/>
          </a:xfrm>
          <a:prstGeom prst="rect">
            <a:avLst/>
          </a:prstGeom>
          <a:noFill/>
          <a:ln/>
        </p:spPr>
        <p:txBody>
          <a:bodyPr wrap="square" rtlCol="0" anchor="ctr"/>
          <a:lstStyle/>
          <a:p>
            <a:pPr indent="0" marL="0">
              <a:buNone/>
            </a:pPr>
            <a:r>
              <a:rPr lang="en-US" sz="1300" b="1" dirty="0">
                <a:solidFill>
                  <a:srgbClr val="0D3349"/>
                </a:solidFill>
                <a:latin typeface="Arial" pitchFamily="34" charset="0"/>
                <a:ea typeface="Arial" pitchFamily="34" charset="-122"/>
                <a:cs typeface="Arial" pitchFamily="34" charset="-120"/>
              </a:rPr>
              <a:t>EXTERNAL GUIDE(MENTOR) : Tirumal Mutalikdesai</a:t>
            </a:r>
            <a:endParaRPr lang="en-US" sz="1300" dirty="0"/>
          </a:p>
        </p:txBody>
      </p:sp>
      <p:sp>
        <p:nvSpPr>
          <p:cNvPr id="15" name="Text 11"/>
          <p:cNvSpPr/>
          <p:nvPr/>
        </p:nvSpPr>
        <p:spPr>
          <a:xfrm>
            <a:off x="4480560" y="3822192"/>
            <a:ext cx="4572000" cy="274320"/>
          </a:xfrm>
          <a:prstGeom prst="rect">
            <a:avLst/>
          </a:prstGeom>
          <a:noFill/>
          <a:ln/>
        </p:spPr>
        <p:txBody>
          <a:bodyPr wrap="square" rtlCol="0" anchor="ctr"/>
          <a:lstStyle/>
          <a:p>
            <a:pPr indent="0" marL="0">
              <a:buNone/>
            </a:pPr>
            <a:r>
              <a:rPr lang="en-US" sz="1300" b="1" dirty="0">
                <a:solidFill>
                  <a:srgbClr val="0D3349"/>
                </a:solidFill>
                <a:latin typeface="Arial" pitchFamily="34" charset="0"/>
                <a:ea typeface="Arial" pitchFamily="34" charset="-122"/>
                <a:cs typeface="Arial" pitchFamily="34" charset="-120"/>
              </a:rPr>
              <a:t>INTERNAL GUIDE: Mr. SACHAIN A U</a:t>
            </a:r>
            <a:endParaRPr lang="en-US" sz="1300" dirty="0"/>
          </a:p>
        </p:txBody>
      </p:sp>
      <p:sp>
        <p:nvSpPr>
          <p:cNvPr id="16" name="Text 12"/>
          <p:cNvSpPr/>
          <p:nvPr/>
        </p:nvSpPr>
        <p:spPr>
          <a:xfrm>
            <a:off x="5303520" y="4114800"/>
            <a:ext cx="3749040" cy="256032"/>
          </a:xfrm>
          <a:prstGeom prst="rect">
            <a:avLst/>
          </a:prstGeom>
          <a:noFill/>
          <a:ln/>
        </p:spPr>
        <p:txBody>
          <a:bodyPr wrap="square" rtlCol="0" anchor="ctr"/>
          <a:lstStyle/>
          <a:p>
            <a:pPr indent="0" marL="0">
              <a:buNone/>
            </a:pPr>
            <a:r>
              <a:rPr lang="en-US" sz="1200" b="1" dirty="0">
                <a:solidFill>
                  <a:srgbClr val="0D3349"/>
                </a:solidFill>
                <a:latin typeface="Arial" pitchFamily="34" charset="0"/>
                <a:ea typeface="Arial" pitchFamily="34" charset="-122"/>
                <a:cs typeface="Arial" pitchFamily="34" charset="-120"/>
              </a:rPr>
              <a:t>DESIGNATION: Program Coordinator</a:t>
            </a:r>
            <a:endParaRPr lang="en-US" sz="1200" dirty="0"/>
          </a:p>
        </p:txBody>
      </p:sp>
      <p:sp>
        <p:nvSpPr>
          <p:cNvPr id="17" name="Text 13"/>
          <p:cNvSpPr/>
          <p:nvPr/>
        </p:nvSpPr>
        <p:spPr>
          <a:xfrm>
            <a:off x="5029200" y="4370832"/>
            <a:ext cx="4023360" cy="256032"/>
          </a:xfrm>
          <a:prstGeom prst="rect">
            <a:avLst/>
          </a:prstGeom>
          <a:noFill/>
          <a:ln/>
        </p:spPr>
        <p:txBody>
          <a:bodyPr wrap="square" rtlCol="0" anchor="ctr"/>
          <a:lstStyle/>
          <a:p>
            <a:pPr indent="0" marL="0">
              <a:buNone/>
            </a:pPr>
            <a:r>
              <a:rPr lang="en-US" sz="1200" b="1" dirty="0">
                <a:solidFill>
                  <a:srgbClr val="0D3349"/>
                </a:solidFill>
                <a:latin typeface="Arial" pitchFamily="34" charset="0"/>
                <a:ea typeface="Arial" pitchFamily="34" charset="-122"/>
                <a:cs typeface="Arial" pitchFamily="34" charset="-120"/>
              </a:rPr>
              <a:t>DESIGNATION: Assistant Professor</a:t>
            </a:r>
            <a:endParaRPr lang="en-US" sz="1200" dirty="0"/>
          </a:p>
        </p:txBody>
      </p:sp>
      <p:sp>
        <p:nvSpPr>
          <p:cNvPr id="18" name="Shape 14"/>
          <p:cNvSpPr/>
          <p:nvPr/>
        </p:nvSpPr>
        <p:spPr>
          <a:xfrm>
            <a:off x="0" y="4873752"/>
            <a:ext cx="9144000" cy="269748"/>
          </a:xfrm>
          <a:prstGeom prst="rect">
            <a:avLst/>
          </a:prstGeom>
          <a:solidFill>
            <a:srgbClr val="C9956A"/>
          </a:solidFill>
          <a:ln w="12700">
            <a:solidFill>
              <a:srgbClr val="C9956A"/>
            </a:solidFill>
            <a:prstDash val="solid"/>
          </a:ln>
        </p:spPr>
      </p:sp>
      <p:sp>
        <p:nvSpPr>
          <p:cNvPr id="19" name="Text 15"/>
          <p:cNvSpPr/>
          <p:nvPr/>
        </p:nvSpPr>
        <p:spPr>
          <a:xfrm>
            <a:off x="91440" y="4873752"/>
            <a:ext cx="8778240" cy="269748"/>
          </a:xfrm>
          <a:prstGeom prst="rect">
            <a:avLst/>
          </a:prstGeom>
          <a:noFill/>
          <a:ln/>
        </p:spPr>
        <p:txBody>
          <a:bodyPr wrap="square" rtlCol="0" anchor="ctr"/>
          <a:lstStyle/>
          <a:p>
            <a:pPr algn="ctr" indent="0" marL="0">
              <a:buNone/>
            </a:pPr>
            <a:r>
              <a:rPr lang="en-US" sz="1100" b="1" dirty="0">
                <a:solidFill>
                  <a:srgbClr val="0D3349"/>
                </a:solidFill>
                <a:latin typeface="Arial" pitchFamily="34" charset="0"/>
                <a:ea typeface="Arial" pitchFamily="34" charset="-122"/>
                <a:cs typeface="Arial" pitchFamily="34" charset="-120"/>
              </a:rPr>
              <a:t>----------------------------------------INTERNSHIP PRESENTATION----------------------------------------</a:t>
            </a:r>
            <a:endParaRPr lang="en-US" sz="1100" dirty="0"/>
          </a:p>
        </p:txBody>
      </p:sp>
      <p:sp>
        <p:nvSpPr>
          <p:cNvPr id="20" name="Text 16"/>
          <p:cNvSpPr/>
          <p:nvPr/>
        </p:nvSpPr>
        <p:spPr>
          <a:xfrm>
            <a:off x="8823960" y="4873752"/>
            <a:ext cx="274320" cy="269748"/>
          </a:xfrm>
          <a:prstGeom prst="rect">
            <a:avLst/>
          </a:prstGeom>
          <a:noFill/>
          <a:ln/>
        </p:spPr>
        <p:txBody>
          <a:bodyPr wrap="square" rtlCol="0" anchor="ctr"/>
          <a:lstStyle/>
          <a:p>
            <a:pPr algn="r" indent="0" marL="0">
              <a:buNone/>
            </a:pPr>
            <a:r>
              <a:rPr lang="en-US" sz="1100" b="1" dirty="0">
                <a:solidFill>
                  <a:srgbClr val="0D3349"/>
                </a:solidFill>
                <a:latin typeface="Arial" pitchFamily="34" charset="0"/>
                <a:ea typeface="Arial" pitchFamily="34" charset="-122"/>
                <a:cs typeface="Arial"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OUTLINE</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274320" y="960120"/>
            <a:ext cx="8595360" cy="475488"/>
          </a:xfrm>
          <a:prstGeom prst="rect">
            <a:avLst/>
          </a:prstGeom>
          <a:noFill/>
          <a:ln/>
        </p:spPr>
        <p:txBody>
          <a:bodyPr wrap="square" rtlCol="0" anchor="ctr"/>
          <a:lstStyle/>
          <a:p>
            <a:pPr indent="0" marL="0">
              <a:buNone/>
            </a:pPr>
            <a:r>
              <a:rPr lang="en-US" sz="2000" b="1" dirty="0">
                <a:solidFill>
                  <a:srgbClr val="0D3349"/>
                </a:solidFill>
                <a:latin typeface="Arial Black" pitchFamily="34" charset="0"/>
                <a:ea typeface="Arial Black" pitchFamily="34" charset="-122"/>
                <a:cs typeface="Arial Black" pitchFamily="34" charset="-120"/>
              </a:rPr>
              <a:t>❯  </a:t>
            </a:r>
            <a:pPr indent="0" marL="0">
              <a:buNone/>
            </a:pPr>
            <a:r>
              <a:rPr lang="en-US" sz="2000" b="1" dirty="0">
                <a:solidFill>
                  <a:srgbClr val="0D3349"/>
                </a:solidFill>
                <a:latin typeface="Arial Black" pitchFamily="34" charset="0"/>
                <a:ea typeface="Arial Black" pitchFamily="34" charset="-122"/>
                <a:cs typeface="Arial Black" pitchFamily="34" charset="-120"/>
              </a:rPr>
              <a:t> INTRODUCTION</a:t>
            </a:r>
            <a:endParaRPr lang="en-US" sz="2000" dirty="0"/>
          </a:p>
        </p:txBody>
      </p:sp>
      <p:sp>
        <p:nvSpPr>
          <p:cNvPr id="7" name="Text 4"/>
          <p:cNvSpPr/>
          <p:nvPr/>
        </p:nvSpPr>
        <p:spPr>
          <a:xfrm>
            <a:off x="274320" y="1481328"/>
            <a:ext cx="8595360" cy="475488"/>
          </a:xfrm>
          <a:prstGeom prst="rect">
            <a:avLst/>
          </a:prstGeom>
          <a:noFill/>
          <a:ln/>
        </p:spPr>
        <p:txBody>
          <a:bodyPr wrap="square" rtlCol="0" anchor="ctr"/>
          <a:lstStyle/>
          <a:p>
            <a:pPr indent="0" marL="0">
              <a:buNone/>
            </a:pPr>
            <a:r>
              <a:rPr lang="en-US" sz="2000" b="1" dirty="0">
                <a:solidFill>
                  <a:srgbClr val="0D3349"/>
                </a:solidFill>
                <a:latin typeface="Arial Black" pitchFamily="34" charset="0"/>
                <a:ea typeface="Arial Black" pitchFamily="34" charset="-122"/>
                <a:cs typeface="Arial Black" pitchFamily="34" charset="-120"/>
              </a:rPr>
              <a:t>❯  </a:t>
            </a:r>
            <a:pPr indent="0" marL="0">
              <a:buNone/>
            </a:pPr>
            <a:r>
              <a:rPr lang="en-US" sz="2000" b="1" dirty="0">
                <a:solidFill>
                  <a:srgbClr val="0D3349"/>
                </a:solidFill>
                <a:latin typeface="Arial Black" pitchFamily="34" charset="0"/>
                <a:ea typeface="Arial Black" pitchFamily="34" charset="-122"/>
                <a:cs typeface="Arial Black" pitchFamily="34" charset="-120"/>
              </a:rPr>
              <a:t> ABOUT ORGANISATION</a:t>
            </a:r>
            <a:endParaRPr lang="en-US" sz="2000" dirty="0"/>
          </a:p>
        </p:txBody>
      </p:sp>
      <p:sp>
        <p:nvSpPr>
          <p:cNvPr id="8" name="Text 5"/>
          <p:cNvSpPr/>
          <p:nvPr/>
        </p:nvSpPr>
        <p:spPr>
          <a:xfrm>
            <a:off x="274320" y="2002536"/>
            <a:ext cx="8595360" cy="475488"/>
          </a:xfrm>
          <a:prstGeom prst="rect">
            <a:avLst/>
          </a:prstGeom>
          <a:noFill/>
          <a:ln/>
        </p:spPr>
        <p:txBody>
          <a:bodyPr wrap="square" rtlCol="0" anchor="ctr"/>
          <a:lstStyle/>
          <a:p>
            <a:pPr indent="0" marL="0">
              <a:buNone/>
            </a:pPr>
            <a:r>
              <a:rPr lang="en-US" sz="2000" b="1" dirty="0">
                <a:solidFill>
                  <a:srgbClr val="0D3349"/>
                </a:solidFill>
                <a:latin typeface="Arial Black" pitchFamily="34" charset="0"/>
                <a:ea typeface="Arial Black" pitchFamily="34" charset="-122"/>
                <a:cs typeface="Arial Black" pitchFamily="34" charset="-120"/>
              </a:rPr>
              <a:t>❯  </a:t>
            </a:r>
            <a:pPr indent="0" marL="0">
              <a:buNone/>
            </a:pPr>
            <a:r>
              <a:rPr lang="en-US" sz="2000" b="1" dirty="0">
                <a:solidFill>
                  <a:srgbClr val="0D3349"/>
                </a:solidFill>
                <a:latin typeface="Arial Black" pitchFamily="34" charset="0"/>
                <a:ea typeface="Arial Black" pitchFamily="34" charset="-122"/>
                <a:cs typeface="Arial Black" pitchFamily="34" charset="-120"/>
              </a:rPr>
              <a:t>INTERNSHIP ROLE AND OBJECTIVES</a:t>
            </a:r>
            <a:endParaRPr lang="en-US" sz="2000" dirty="0"/>
          </a:p>
        </p:txBody>
      </p:sp>
      <p:sp>
        <p:nvSpPr>
          <p:cNvPr id="9" name="Text 6"/>
          <p:cNvSpPr/>
          <p:nvPr/>
        </p:nvSpPr>
        <p:spPr>
          <a:xfrm>
            <a:off x="274320" y="2523744"/>
            <a:ext cx="8595360" cy="475488"/>
          </a:xfrm>
          <a:prstGeom prst="rect">
            <a:avLst/>
          </a:prstGeom>
          <a:noFill/>
          <a:ln/>
        </p:spPr>
        <p:txBody>
          <a:bodyPr wrap="square" rtlCol="0" anchor="ctr"/>
          <a:lstStyle/>
          <a:p>
            <a:pPr indent="0" marL="0">
              <a:buNone/>
            </a:pPr>
            <a:r>
              <a:rPr lang="en-US" sz="2000" b="1" dirty="0">
                <a:solidFill>
                  <a:srgbClr val="0D3349"/>
                </a:solidFill>
                <a:latin typeface="Arial Black" pitchFamily="34" charset="0"/>
                <a:ea typeface="Arial Black" pitchFamily="34" charset="-122"/>
                <a:cs typeface="Arial Black" pitchFamily="34" charset="-120"/>
              </a:rPr>
              <a:t>❯  </a:t>
            </a:r>
            <a:pPr indent="0" marL="0">
              <a:buNone/>
            </a:pPr>
            <a:r>
              <a:rPr lang="en-US" sz="2000" b="1" dirty="0">
                <a:solidFill>
                  <a:srgbClr val="0D3349"/>
                </a:solidFill>
                <a:latin typeface="Arial Black" pitchFamily="34" charset="0"/>
                <a:ea typeface="Arial Black" pitchFamily="34" charset="-122"/>
                <a:cs typeface="Arial Black" pitchFamily="34" charset="-120"/>
              </a:rPr>
              <a:t>ACTIVITIES COMPLETED</a:t>
            </a:r>
            <a:endParaRPr lang="en-US" sz="2000" dirty="0"/>
          </a:p>
        </p:txBody>
      </p:sp>
      <p:sp>
        <p:nvSpPr>
          <p:cNvPr id="10" name="Text 7"/>
          <p:cNvSpPr/>
          <p:nvPr/>
        </p:nvSpPr>
        <p:spPr>
          <a:xfrm>
            <a:off x="274320" y="3044952"/>
            <a:ext cx="8595360" cy="475488"/>
          </a:xfrm>
          <a:prstGeom prst="rect">
            <a:avLst/>
          </a:prstGeom>
          <a:noFill/>
          <a:ln/>
        </p:spPr>
        <p:txBody>
          <a:bodyPr wrap="square" rtlCol="0" anchor="ctr"/>
          <a:lstStyle/>
          <a:p>
            <a:pPr indent="0" marL="0">
              <a:buNone/>
            </a:pPr>
            <a:r>
              <a:rPr lang="en-US" sz="2000" b="1" dirty="0">
                <a:solidFill>
                  <a:srgbClr val="0D3349"/>
                </a:solidFill>
                <a:latin typeface="Arial Black" pitchFamily="34" charset="0"/>
                <a:ea typeface="Arial Black" pitchFamily="34" charset="-122"/>
                <a:cs typeface="Arial Black" pitchFamily="34" charset="-120"/>
              </a:rPr>
              <a:t>❯  </a:t>
            </a:r>
            <a:pPr indent="0" marL="0">
              <a:buNone/>
            </a:pPr>
            <a:r>
              <a:rPr lang="en-US" sz="2000" b="1" dirty="0">
                <a:solidFill>
                  <a:srgbClr val="0D3349"/>
                </a:solidFill>
                <a:latin typeface="Arial Black" pitchFamily="34" charset="0"/>
                <a:ea typeface="Arial Black" pitchFamily="34" charset="-122"/>
                <a:cs typeface="Arial Black" pitchFamily="34" charset="-120"/>
              </a:rPr>
              <a:t>KEY LEARNINGS &amp; CHALLENGES ENCOUNTERED</a:t>
            </a:r>
            <a:endParaRPr lang="en-US" sz="2000" dirty="0"/>
          </a:p>
        </p:txBody>
      </p:sp>
      <p:sp>
        <p:nvSpPr>
          <p:cNvPr id="11" name="Text 8"/>
          <p:cNvSpPr/>
          <p:nvPr/>
        </p:nvSpPr>
        <p:spPr>
          <a:xfrm>
            <a:off x="274320" y="3566160"/>
            <a:ext cx="8595360" cy="475488"/>
          </a:xfrm>
          <a:prstGeom prst="rect">
            <a:avLst/>
          </a:prstGeom>
          <a:noFill/>
          <a:ln/>
        </p:spPr>
        <p:txBody>
          <a:bodyPr wrap="square" rtlCol="0" anchor="ctr"/>
          <a:lstStyle/>
          <a:p>
            <a:pPr indent="0" marL="0">
              <a:buNone/>
            </a:pPr>
            <a:r>
              <a:rPr lang="en-US" sz="2000" b="1" dirty="0">
                <a:solidFill>
                  <a:srgbClr val="0D3349"/>
                </a:solidFill>
                <a:latin typeface="Arial Black" pitchFamily="34" charset="0"/>
                <a:ea typeface="Arial Black" pitchFamily="34" charset="-122"/>
                <a:cs typeface="Arial Black" pitchFamily="34" charset="-120"/>
              </a:rPr>
              <a:t>❯  </a:t>
            </a:r>
            <a:pPr indent="0" marL="0">
              <a:buNone/>
            </a:pPr>
            <a:r>
              <a:rPr lang="en-US" sz="2000" b="1" dirty="0">
                <a:solidFill>
                  <a:srgbClr val="0D3349"/>
                </a:solidFill>
                <a:latin typeface="Arial Black" pitchFamily="34" charset="0"/>
                <a:ea typeface="Arial Black" pitchFamily="34" charset="-122"/>
                <a:cs typeface="Arial Black" pitchFamily="34" charset="-120"/>
              </a:rPr>
              <a:t>ACTION PLAN</a:t>
            </a:r>
            <a:endParaRPr lang="en-US" sz="2000" dirty="0"/>
          </a:p>
        </p:txBody>
      </p:sp>
      <p:sp>
        <p:nvSpPr>
          <p:cNvPr id="12" name="Text 9"/>
          <p:cNvSpPr/>
          <p:nvPr/>
        </p:nvSpPr>
        <p:spPr>
          <a:xfrm>
            <a:off x="274320" y="4087368"/>
            <a:ext cx="8595360" cy="475488"/>
          </a:xfrm>
          <a:prstGeom prst="rect">
            <a:avLst/>
          </a:prstGeom>
          <a:noFill/>
          <a:ln/>
        </p:spPr>
        <p:txBody>
          <a:bodyPr wrap="square" rtlCol="0" anchor="ctr"/>
          <a:lstStyle/>
          <a:p>
            <a:pPr indent="0" marL="0">
              <a:buNone/>
            </a:pPr>
            <a:r>
              <a:rPr lang="en-US" sz="2000" b="1" dirty="0">
                <a:solidFill>
                  <a:srgbClr val="0D3349"/>
                </a:solidFill>
                <a:latin typeface="Arial Black" pitchFamily="34" charset="0"/>
                <a:ea typeface="Arial Black" pitchFamily="34" charset="-122"/>
                <a:cs typeface="Arial Black" pitchFamily="34" charset="-120"/>
              </a:rPr>
              <a:t>❯  </a:t>
            </a:r>
            <a:pPr indent="0" marL="0">
              <a:buNone/>
            </a:pPr>
            <a:r>
              <a:rPr lang="en-US" sz="2000" b="1" dirty="0">
                <a:solidFill>
                  <a:srgbClr val="0D3349"/>
                </a:solidFill>
                <a:latin typeface="Arial Black" pitchFamily="34" charset="0"/>
                <a:ea typeface="Arial Black" pitchFamily="34" charset="-122"/>
                <a:cs typeface="Arial Black" pitchFamily="34" charset="-120"/>
              </a:rPr>
              <a:t>ABOUT PROJECT</a:t>
            </a:r>
            <a:endParaRPr lang="en-US" sz="2000" dirty="0"/>
          </a:p>
        </p:txBody>
      </p:sp>
      <p:sp>
        <p:nvSpPr>
          <p:cNvPr id="13" name="Shape 10"/>
          <p:cNvSpPr/>
          <p:nvPr/>
        </p:nvSpPr>
        <p:spPr>
          <a:xfrm>
            <a:off x="0" y="4873752"/>
            <a:ext cx="9144000" cy="269748"/>
          </a:xfrm>
          <a:prstGeom prst="rect">
            <a:avLst/>
          </a:prstGeom>
          <a:solidFill>
            <a:srgbClr val="C9956A"/>
          </a:solidFill>
          <a:ln w="12700">
            <a:solidFill>
              <a:srgbClr val="C9956A"/>
            </a:solidFill>
            <a:prstDash val="solid"/>
          </a:ln>
        </p:spPr>
      </p:sp>
      <p:sp>
        <p:nvSpPr>
          <p:cNvPr id="14" name="Text 11"/>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5" name="Text 12"/>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INTRODUCTION</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137160" y="914400"/>
            <a:ext cx="8869680" cy="749808"/>
          </a:xfrm>
          <a:prstGeom prst="rect">
            <a:avLst/>
          </a:prstGeom>
          <a:noFill/>
          <a:ln/>
        </p:spPr>
        <p:txBody>
          <a:bodyPr wrap="square" rtlCol="0" anchor="t"/>
          <a:lstStyle/>
          <a:p>
            <a:pPr algn="just" indent="0" marL="0">
              <a:buNone/>
            </a:pPr>
            <a:r>
              <a:rPr lang="en-US" sz="1400" b="1" dirty="0">
                <a:solidFill>
                  <a:srgbClr val="0D3349"/>
                </a:solidFill>
                <a:latin typeface="Arial" pitchFamily="34" charset="0"/>
                <a:ea typeface="Arial" pitchFamily="34" charset="-122"/>
                <a:cs typeface="Arial" pitchFamily="34" charset="-120"/>
              </a:rPr>
              <a:t>❯  </a:t>
            </a:r>
            <a:pPr algn="just" indent="0" marL="0">
              <a:buNone/>
            </a:pPr>
            <a:r>
              <a:rPr lang="en-US" sz="1400" dirty="0">
                <a:solidFill>
                  <a:srgbClr val="0D3349"/>
                </a:solidFill>
                <a:latin typeface="Arial" pitchFamily="34" charset="0"/>
                <a:ea typeface="Arial" pitchFamily="34" charset="-122"/>
                <a:cs typeface="Arial" pitchFamily="34" charset="-120"/>
              </a:rPr>
              <a:t>The internship focused on gaining practical knowledge in Android application development using Gemini API, Kotlin, Firebase, and MVVM architecture through hands-on codelabs, prototype development, and real-world project planning.</a:t>
            </a:r>
            <a:endParaRPr lang="en-US" sz="1400" dirty="0"/>
          </a:p>
        </p:txBody>
      </p:sp>
      <p:sp>
        <p:nvSpPr>
          <p:cNvPr id="7" name="Text 4"/>
          <p:cNvSpPr/>
          <p:nvPr/>
        </p:nvSpPr>
        <p:spPr>
          <a:xfrm>
            <a:off x="137160" y="1719072"/>
            <a:ext cx="8869680" cy="749808"/>
          </a:xfrm>
          <a:prstGeom prst="rect">
            <a:avLst/>
          </a:prstGeom>
          <a:noFill/>
          <a:ln/>
        </p:spPr>
        <p:txBody>
          <a:bodyPr wrap="square" rtlCol="0" anchor="t"/>
          <a:lstStyle/>
          <a:p>
            <a:pPr algn="just" indent="0" marL="0">
              <a:buNone/>
            </a:pPr>
            <a:r>
              <a:rPr lang="en-US" sz="1400" b="1" dirty="0">
                <a:solidFill>
                  <a:srgbClr val="0D3349"/>
                </a:solidFill>
                <a:latin typeface="Arial" pitchFamily="34" charset="0"/>
                <a:ea typeface="Arial" pitchFamily="34" charset="-122"/>
                <a:cs typeface="Arial" pitchFamily="34" charset="-120"/>
              </a:rPr>
              <a:t>❯  </a:t>
            </a:r>
            <a:pPr algn="just" indent="0" marL="0">
              <a:buNone/>
            </a:pPr>
            <a:r>
              <a:rPr lang="en-US" sz="1400" dirty="0">
                <a:solidFill>
                  <a:srgbClr val="0D3349"/>
                </a:solidFill>
                <a:latin typeface="Arial" pitchFamily="34" charset="0"/>
                <a:ea typeface="Arial" pitchFamily="34" charset="-122"/>
                <a:cs typeface="Arial" pitchFamily="34" charset="-120"/>
              </a:rPr>
              <a:t>Multiple Android development concepts were explored, including UI design, navigation, adaptive layouts, Firestore Database, TensorFlow Lite, Gemini API integration, and speech-to-text/text-to-speech features.</a:t>
            </a:r>
            <a:endParaRPr lang="en-US" sz="1400" dirty="0"/>
          </a:p>
        </p:txBody>
      </p:sp>
      <p:sp>
        <p:nvSpPr>
          <p:cNvPr id="8" name="Text 5"/>
          <p:cNvSpPr/>
          <p:nvPr/>
        </p:nvSpPr>
        <p:spPr>
          <a:xfrm>
            <a:off x="137160" y="2523744"/>
            <a:ext cx="8869680" cy="749808"/>
          </a:xfrm>
          <a:prstGeom prst="rect">
            <a:avLst/>
          </a:prstGeom>
          <a:noFill/>
          <a:ln/>
        </p:spPr>
        <p:txBody>
          <a:bodyPr wrap="square" rtlCol="0" anchor="t"/>
          <a:lstStyle/>
          <a:p>
            <a:pPr algn="just" indent="0" marL="0">
              <a:buNone/>
            </a:pPr>
            <a:r>
              <a:rPr lang="en-US" sz="1400" b="1" dirty="0">
                <a:solidFill>
                  <a:srgbClr val="0D3349"/>
                </a:solidFill>
                <a:latin typeface="Arial" pitchFamily="34" charset="0"/>
                <a:ea typeface="Arial" pitchFamily="34" charset="-122"/>
                <a:cs typeface="Arial" pitchFamily="34" charset="-120"/>
              </a:rPr>
              <a:t>❯  </a:t>
            </a:r>
            <a:pPr algn="just" indent="0" marL="0">
              <a:buNone/>
            </a:pPr>
            <a:r>
              <a:rPr lang="en-US" sz="1400" dirty="0">
                <a:solidFill>
                  <a:srgbClr val="0D3349"/>
                </a:solidFill>
                <a:latin typeface="Arial" pitchFamily="34" charset="0"/>
                <a:ea typeface="Arial" pitchFamily="34" charset="-122"/>
                <a:cs typeface="Arial" pitchFamily="34" charset="-120"/>
              </a:rPr>
              <a:t>Along with technical learning, a major project titled "Jenu Gempu" was planned and developed to support farmers and rural entrepreneurs through AI-powered crop disease detection, weather-based suggestions, and self-employment guidance.</a:t>
            </a:r>
            <a:endParaRPr lang="en-US" sz="1400" dirty="0"/>
          </a:p>
        </p:txBody>
      </p:sp>
      <p:sp>
        <p:nvSpPr>
          <p:cNvPr id="9" name="Text 6"/>
          <p:cNvSpPr/>
          <p:nvPr/>
        </p:nvSpPr>
        <p:spPr>
          <a:xfrm>
            <a:off x="137160" y="3328416"/>
            <a:ext cx="8869680" cy="749808"/>
          </a:xfrm>
          <a:prstGeom prst="rect">
            <a:avLst/>
          </a:prstGeom>
          <a:noFill/>
          <a:ln/>
        </p:spPr>
        <p:txBody>
          <a:bodyPr wrap="square" rtlCol="0" anchor="t"/>
          <a:lstStyle/>
          <a:p>
            <a:pPr algn="just" indent="0" marL="0">
              <a:buNone/>
            </a:pPr>
            <a:r>
              <a:rPr lang="en-US" sz="1400" b="1" dirty="0">
                <a:solidFill>
                  <a:srgbClr val="0D3349"/>
                </a:solidFill>
                <a:latin typeface="Arial" pitchFamily="34" charset="0"/>
                <a:ea typeface="Arial" pitchFamily="34" charset="-122"/>
                <a:cs typeface="Arial" pitchFamily="34" charset="-120"/>
              </a:rPr>
              <a:t>❯  </a:t>
            </a:r>
            <a:pPr algn="just" indent="0" marL="0">
              <a:buNone/>
            </a:pPr>
            <a:r>
              <a:rPr lang="en-US" sz="1400" dirty="0">
                <a:solidFill>
                  <a:srgbClr val="0D3349"/>
                </a:solidFill>
                <a:latin typeface="Arial" pitchFamily="34" charset="0"/>
                <a:ea typeface="Arial" pitchFamily="34" charset="-122"/>
                <a:cs typeface="Arial" pitchFamily="34" charset="-120"/>
              </a:rPr>
              <a:t>The project development process included requirement analysis, UI/UX planning, Firebase integration, Google AI Studio prototyping, and scalable Android architecture design using modern development practices.</a:t>
            </a:r>
            <a:endParaRPr lang="en-US" sz="1400" dirty="0"/>
          </a:p>
        </p:txBody>
      </p:sp>
      <p:sp>
        <p:nvSpPr>
          <p:cNvPr id="10" name="Text 7"/>
          <p:cNvSpPr/>
          <p:nvPr/>
        </p:nvSpPr>
        <p:spPr>
          <a:xfrm>
            <a:off x="137160" y="4133088"/>
            <a:ext cx="8869680" cy="749808"/>
          </a:xfrm>
          <a:prstGeom prst="rect">
            <a:avLst/>
          </a:prstGeom>
          <a:noFill/>
          <a:ln/>
        </p:spPr>
        <p:txBody>
          <a:bodyPr wrap="square" rtlCol="0" anchor="t"/>
          <a:lstStyle/>
          <a:p>
            <a:pPr algn="just" indent="0" marL="0">
              <a:buNone/>
            </a:pPr>
            <a:r>
              <a:rPr lang="en-US" sz="1400" b="1" dirty="0">
                <a:solidFill>
                  <a:srgbClr val="0D3349"/>
                </a:solidFill>
                <a:latin typeface="Arial" pitchFamily="34" charset="0"/>
                <a:ea typeface="Arial" pitchFamily="34" charset="-122"/>
                <a:cs typeface="Arial" pitchFamily="34" charset="-120"/>
              </a:rPr>
              <a:t>❯  </a:t>
            </a:r>
            <a:pPr algn="just" indent="0" marL="0">
              <a:buNone/>
            </a:pPr>
            <a:r>
              <a:rPr lang="en-US" sz="1400" dirty="0">
                <a:solidFill>
                  <a:srgbClr val="0D3349"/>
                </a:solidFill>
                <a:latin typeface="Arial" pitchFamily="34" charset="0"/>
                <a:ea typeface="Arial" pitchFamily="34" charset="-122"/>
                <a:cs typeface="Arial" pitchFamily="34" charset="-120"/>
              </a:rPr>
              <a:t>The internship also emphasized AI-powered farming assistance, multilingual support for Kannada and English, accessibility-focused design for rural users, and real-world mobile application development.</a:t>
            </a:r>
            <a:endParaRPr lang="en-US" sz="1400" dirty="0"/>
          </a:p>
        </p:txBody>
      </p:sp>
      <p:sp>
        <p:nvSpPr>
          <p:cNvPr id="11" name="Shape 8"/>
          <p:cNvSpPr/>
          <p:nvPr/>
        </p:nvSpPr>
        <p:spPr>
          <a:xfrm>
            <a:off x="0" y="4873752"/>
            <a:ext cx="9144000" cy="269748"/>
          </a:xfrm>
          <a:prstGeom prst="rect">
            <a:avLst/>
          </a:prstGeom>
          <a:solidFill>
            <a:srgbClr val="C9956A"/>
          </a:solidFill>
          <a:ln w="12700">
            <a:solidFill>
              <a:srgbClr val="C9956A"/>
            </a:solidFill>
            <a:prstDash val="solid"/>
          </a:ln>
        </p:spPr>
      </p:sp>
      <p:sp>
        <p:nvSpPr>
          <p:cNvPr id="12" name="Text 9"/>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3" name="Text 10"/>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ORGANISATION AND MENTOR DETAILS</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137160" y="914400"/>
            <a:ext cx="8869680" cy="5943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Organization: MindMatrix.io, a product of CL Infotech Pvt. Ltd.</a:t>
            </a:r>
            <a:endParaRPr lang="en-US" sz="1800" dirty="0"/>
          </a:p>
        </p:txBody>
      </p:sp>
      <p:sp>
        <p:nvSpPr>
          <p:cNvPr id="7" name="Text 4"/>
          <p:cNvSpPr/>
          <p:nvPr/>
        </p:nvSpPr>
        <p:spPr>
          <a:xfrm>
            <a:off x="137160" y="1554480"/>
            <a:ext cx="8869680" cy="5943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Industry: Software Development / Artificial Intelligence</a:t>
            </a:r>
            <a:endParaRPr lang="en-US" sz="1800" dirty="0"/>
          </a:p>
        </p:txBody>
      </p:sp>
      <p:sp>
        <p:nvSpPr>
          <p:cNvPr id="8" name="Text 5"/>
          <p:cNvSpPr/>
          <p:nvPr/>
        </p:nvSpPr>
        <p:spPr>
          <a:xfrm>
            <a:off x="137160" y="2194560"/>
            <a:ext cx="8869680" cy="5943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Focus: App development using Gen AI, project-based learning</a:t>
            </a:r>
            <a:endParaRPr lang="en-US" sz="1800" dirty="0"/>
          </a:p>
        </p:txBody>
      </p:sp>
      <p:sp>
        <p:nvSpPr>
          <p:cNvPr id="9" name="Text 6"/>
          <p:cNvSpPr/>
          <p:nvPr/>
        </p:nvSpPr>
        <p:spPr>
          <a:xfrm>
            <a:off x="137160" y="2834640"/>
            <a:ext cx="8869680" cy="5943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a:t>
            </a:r>
            <a:pPr indent="0" marL="0">
              <a:buNone/>
            </a:pPr>
            <a:r>
              <a:rPr lang="en-US" sz="1800" b="1" dirty="0">
                <a:solidFill>
                  <a:srgbClr val="0D3349"/>
                </a:solidFill>
                <a:latin typeface="Arial" pitchFamily="34" charset="0"/>
                <a:ea typeface="Arial" pitchFamily="34" charset="-122"/>
                <a:cs typeface="Arial" pitchFamily="34" charset="-120"/>
              </a:rPr>
              <a:t>Mentor: </a:t>
            </a:r>
            <a:pPr indent="0" marL="0">
              <a:buNone/>
            </a:pPr>
            <a:r>
              <a:rPr lang="en-US" sz="1800" dirty="0">
                <a:solidFill>
                  <a:srgbClr val="0D3349"/>
                </a:solidFill>
                <a:latin typeface="Arial" pitchFamily="34" charset="0"/>
                <a:ea typeface="Arial" pitchFamily="34" charset="-122"/>
                <a:cs typeface="Arial" pitchFamily="34" charset="-120"/>
              </a:rPr>
              <a:t>Tirumal Mutalikdesai, Program Coordinator, MindMatrix.io.</a:t>
            </a:r>
            <a:endParaRPr lang="en-US" sz="1800" dirty="0"/>
          </a:p>
        </p:txBody>
      </p:sp>
      <p:sp>
        <p:nvSpPr>
          <p:cNvPr id="10" name="Text 7"/>
          <p:cNvSpPr/>
          <p:nvPr/>
        </p:nvSpPr>
        <p:spPr>
          <a:xfrm>
            <a:off x="137160" y="3474720"/>
            <a:ext cx="8869680" cy="5943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Role: Program Mentor / Technical Guide</a:t>
            </a:r>
            <a:endParaRPr lang="en-US" sz="1800" dirty="0"/>
          </a:p>
        </p:txBody>
      </p:sp>
      <p:sp>
        <p:nvSpPr>
          <p:cNvPr id="11" name="Text 8"/>
          <p:cNvSpPr/>
          <p:nvPr/>
        </p:nvSpPr>
        <p:spPr>
          <a:xfrm>
            <a:off x="137160" y="4114800"/>
            <a:ext cx="8869680" cy="5943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Responsibilities: Guided development tasks, reviewed progress, supported project work</a:t>
            </a:r>
            <a:endParaRPr lang="en-US" sz="1800" dirty="0"/>
          </a:p>
        </p:txBody>
      </p:sp>
      <p:sp>
        <p:nvSpPr>
          <p:cNvPr id="12" name="Shape 9"/>
          <p:cNvSpPr/>
          <p:nvPr/>
        </p:nvSpPr>
        <p:spPr>
          <a:xfrm>
            <a:off x="0" y="4873752"/>
            <a:ext cx="9144000" cy="269748"/>
          </a:xfrm>
          <a:prstGeom prst="rect">
            <a:avLst/>
          </a:prstGeom>
          <a:solidFill>
            <a:srgbClr val="C9956A"/>
          </a:solidFill>
          <a:ln w="12700">
            <a:solidFill>
              <a:srgbClr val="C9956A"/>
            </a:solidFill>
            <a:prstDash val="solid"/>
          </a:ln>
        </p:spPr>
      </p:sp>
      <p:sp>
        <p:nvSpPr>
          <p:cNvPr id="13" name="Text 10"/>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4" name="Text 11"/>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ROLE AND OBJECTIVES</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137160" y="932688"/>
            <a:ext cx="8869680" cy="347472"/>
          </a:xfrm>
          <a:prstGeom prst="rect">
            <a:avLst/>
          </a:prstGeom>
          <a:noFill/>
          <a:ln/>
        </p:spPr>
        <p:txBody>
          <a:bodyPr wrap="square" rtlCol="0" anchor="ctr"/>
          <a:lstStyle/>
          <a:p>
            <a:pPr indent="0" marL="0">
              <a:buNone/>
            </a:pPr>
            <a:r>
              <a:rPr lang="en-US" sz="2200" b="1" dirty="0">
                <a:solidFill>
                  <a:srgbClr val="0D3349"/>
                </a:solidFill>
                <a:latin typeface="Arial Black" pitchFamily="34" charset="0"/>
                <a:ea typeface="Arial Black" pitchFamily="34" charset="-122"/>
                <a:cs typeface="Arial Black" pitchFamily="34" charset="-120"/>
              </a:rPr>
              <a:t>ROLE:</a:t>
            </a:r>
            <a:endParaRPr lang="en-US" sz="2200" dirty="0"/>
          </a:p>
        </p:txBody>
      </p:sp>
      <p:sp>
        <p:nvSpPr>
          <p:cNvPr id="7" name="Text 4"/>
          <p:cNvSpPr/>
          <p:nvPr/>
        </p:nvSpPr>
        <p:spPr>
          <a:xfrm>
            <a:off x="137160" y="1298448"/>
            <a:ext cx="8869680" cy="411480"/>
          </a:xfrm>
          <a:prstGeom prst="rect">
            <a:avLst/>
          </a:prstGeom>
          <a:noFill/>
          <a:ln/>
        </p:spPr>
        <p:txBody>
          <a:bodyPr wrap="square" rtlCol="0" anchor="ctr"/>
          <a:lstStyle/>
          <a:p>
            <a:pPr indent="0" marL="0">
              <a:buNone/>
            </a:pPr>
            <a:r>
              <a:rPr lang="en-US" sz="2000" dirty="0">
                <a:solidFill>
                  <a:srgbClr val="0D3349"/>
                </a:solidFill>
                <a:latin typeface="Arial" pitchFamily="34" charset="0"/>
                <a:ea typeface="Arial" pitchFamily="34" charset="-122"/>
                <a:cs typeface="Arial" pitchFamily="34" charset="-120"/>
              </a:rPr>
              <a:t>❯  Android app Developer.</a:t>
            </a:r>
            <a:endParaRPr lang="en-US" sz="2000" dirty="0"/>
          </a:p>
        </p:txBody>
      </p:sp>
      <p:sp>
        <p:nvSpPr>
          <p:cNvPr id="8" name="Text 5"/>
          <p:cNvSpPr/>
          <p:nvPr/>
        </p:nvSpPr>
        <p:spPr>
          <a:xfrm>
            <a:off x="137160" y="1755648"/>
            <a:ext cx="8869680" cy="411480"/>
          </a:xfrm>
          <a:prstGeom prst="rect">
            <a:avLst/>
          </a:prstGeom>
          <a:noFill/>
          <a:ln/>
        </p:spPr>
        <p:txBody>
          <a:bodyPr wrap="square" rtlCol="0" anchor="ctr"/>
          <a:lstStyle/>
          <a:p>
            <a:pPr indent="0" marL="0">
              <a:buNone/>
            </a:pPr>
            <a:r>
              <a:rPr lang="en-US" sz="2000" dirty="0">
                <a:solidFill>
                  <a:srgbClr val="0D3349"/>
                </a:solidFill>
                <a:latin typeface="Arial" pitchFamily="34" charset="0"/>
                <a:ea typeface="Arial" pitchFamily="34" charset="-122"/>
                <a:cs typeface="Arial" pitchFamily="34" charset="-120"/>
              </a:rPr>
              <a:t>❯  Applying GenAI tools to app creation.</a:t>
            </a:r>
            <a:endParaRPr lang="en-US" sz="2000" dirty="0"/>
          </a:p>
        </p:txBody>
      </p:sp>
      <p:sp>
        <p:nvSpPr>
          <p:cNvPr id="9" name="Text 6"/>
          <p:cNvSpPr/>
          <p:nvPr/>
        </p:nvSpPr>
        <p:spPr>
          <a:xfrm>
            <a:off x="137160" y="2286000"/>
            <a:ext cx="8869680" cy="347472"/>
          </a:xfrm>
          <a:prstGeom prst="rect">
            <a:avLst/>
          </a:prstGeom>
          <a:noFill/>
          <a:ln/>
        </p:spPr>
        <p:txBody>
          <a:bodyPr wrap="square" rtlCol="0" anchor="ctr"/>
          <a:lstStyle/>
          <a:p>
            <a:pPr indent="0" marL="0">
              <a:buNone/>
            </a:pPr>
            <a:r>
              <a:rPr lang="en-US" sz="2200" b="1" dirty="0">
                <a:solidFill>
                  <a:srgbClr val="0D3349"/>
                </a:solidFill>
                <a:latin typeface="Arial Black" pitchFamily="34" charset="0"/>
                <a:ea typeface="Arial Black" pitchFamily="34" charset="-122"/>
                <a:cs typeface="Arial Black" pitchFamily="34" charset="-120"/>
              </a:rPr>
              <a:t>OBJECTIVES:</a:t>
            </a:r>
            <a:endParaRPr lang="en-US" sz="2200" dirty="0"/>
          </a:p>
        </p:txBody>
      </p:sp>
      <p:sp>
        <p:nvSpPr>
          <p:cNvPr id="10" name="Text 7"/>
          <p:cNvSpPr/>
          <p:nvPr/>
        </p:nvSpPr>
        <p:spPr>
          <a:xfrm>
            <a:off x="137160" y="2670048"/>
            <a:ext cx="8869680" cy="548640"/>
          </a:xfrm>
          <a:prstGeom prst="rect">
            <a:avLst/>
          </a:prstGeom>
          <a:noFill/>
          <a:ln/>
        </p:spPr>
        <p:txBody>
          <a:bodyPr wrap="square" rtlCol="0" anchor="ctr"/>
          <a:lstStyle/>
          <a:p>
            <a:pPr indent="0" marL="0">
              <a:buNone/>
            </a:pPr>
            <a:r>
              <a:rPr lang="en-US" sz="1900" dirty="0">
                <a:solidFill>
                  <a:srgbClr val="0D3349"/>
                </a:solidFill>
                <a:latin typeface="Arial" pitchFamily="34" charset="0"/>
                <a:ea typeface="Arial" pitchFamily="34" charset="-122"/>
                <a:cs typeface="Arial" pitchFamily="34" charset="-120"/>
              </a:rPr>
              <a:t>❯  Gain in-depth knowledge of Kotlin and Android Studio environment.</a:t>
            </a:r>
            <a:endParaRPr lang="en-US" sz="1900" dirty="0"/>
          </a:p>
        </p:txBody>
      </p:sp>
      <p:sp>
        <p:nvSpPr>
          <p:cNvPr id="11" name="Text 8"/>
          <p:cNvSpPr/>
          <p:nvPr/>
        </p:nvSpPr>
        <p:spPr>
          <a:xfrm>
            <a:off x="137160" y="3264408"/>
            <a:ext cx="8869680" cy="548640"/>
          </a:xfrm>
          <a:prstGeom prst="rect">
            <a:avLst/>
          </a:prstGeom>
          <a:noFill/>
          <a:ln/>
        </p:spPr>
        <p:txBody>
          <a:bodyPr wrap="square" rtlCol="0" anchor="ctr"/>
          <a:lstStyle/>
          <a:p>
            <a:pPr indent="0" marL="0">
              <a:buNone/>
            </a:pPr>
            <a:r>
              <a:rPr lang="en-US" sz="1900" dirty="0">
                <a:solidFill>
                  <a:srgbClr val="0D3349"/>
                </a:solidFill>
                <a:latin typeface="Arial" pitchFamily="34" charset="0"/>
                <a:ea typeface="Arial" pitchFamily="34" charset="-122"/>
                <a:cs typeface="Arial" pitchFamily="34" charset="-120"/>
              </a:rPr>
              <a:t>❯  Apply GenAI technologies (Gemini API) for efficient agricultural app development.</a:t>
            </a:r>
            <a:endParaRPr lang="en-US" sz="1900" dirty="0"/>
          </a:p>
        </p:txBody>
      </p:sp>
      <p:sp>
        <p:nvSpPr>
          <p:cNvPr id="12" name="Text 9"/>
          <p:cNvSpPr/>
          <p:nvPr/>
        </p:nvSpPr>
        <p:spPr>
          <a:xfrm>
            <a:off x="137160" y="3858768"/>
            <a:ext cx="8869680" cy="548640"/>
          </a:xfrm>
          <a:prstGeom prst="rect">
            <a:avLst/>
          </a:prstGeom>
          <a:noFill/>
          <a:ln/>
        </p:spPr>
        <p:txBody>
          <a:bodyPr wrap="square" rtlCol="0" anchor="ctr"/>
          <a:lstStyle/>
          <a:p>
            <a:pPr indent="0" marL="0">
              <a:buNone/>
            </a:pPr>
            <a:r>
              <a:rPr lang="en-US" sz="1900" dirty="0">
                <a:solidFill>
                  <a:srgbClr val="0D3349"/>
                </a:solidFill>
                <a:latin typeface="Arial" pitchFamily="34" charset="0"/>
                <a:ea typeface="Arial" pitchFamily="34" charset="-122"/>
                <a:cs typeface="Arial" pitchFamily="34" charset="-120"/>
              </a:rPr>
              <a:t>❯  Deliver a high-quality end-to-end application — Jenu Gempu — as the final outcome.</a:t>
            </a:r>
            <a:endParaRPr lang="en-US" sz="1900" dirty="0"/>
          </a:p>
        </p:txBody>
      </p:sp>
      <p:sp>
        <p:nvSpPr>
          <p:cNvPr id="13" name="Shape 10"/>
          <p:cNvSpPr/>
          <p:nvPr/>
        </p:nvSpPr>
        <p:spPr>
          <a:xfrm>
            <a:off x="0" y="4873752"/>
            <a:ext cx="9144000" cy="269748"/>
          </a:xfrm>
          <a:prstGeom prst="rect">
            <a:avLst/>
          </a:prstGeom>
          <a:solidFill>
            <a:srgbClr val="C9956A"/>
          </a:solidFill>
          <a:ln w="12700">
            <a:solidFill>
              <a:srgbClr val="C9956A"/>
            </a:solidFill>
            <a:prstDash val="solid"/>
          </a:ln>
        </p:spPr>
      </p:sp>
      <p:sp>
        <p:nvSpPr>
          <p:cNvPr id="14" name="Text 11"/>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5" name="Text 12"/>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ACTIVITIES COMPLETED</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137160" y="896112"/>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Engaged in AgentBlazer Champion 2026 learning activities on Trailhead.</a:t>
            </a:r>
            <a:endParaRPr lang="en-US" sz="1550" dirty="0"/>
          </a:p>
        </p:txBody>
      </p:sp>
      <p:sp>
        <p:nvSpPr>
          <p:cNvPr id="7" name="Text 4"/>
          <p:cNvSpPr/>
          <p:nvPr/>
        </p:nvSpPr>
        <p:spPr>
          <a:xfrm>
            <a:off x="137160" y="1389888"/>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Designed and implemented Jenu Gempu project using Google AI Studio.</a:t>
            </a:r>
            <a:endParaRPr lang="en-US" sz="1550" dirty="0"/>
          </a:p>
        </p:txBody>
      </p:sp>
      <p:sp>
        <p:nvSpPr>
          <p:cNvPr id="8" name="Text 5"/>
          <p:cNvSpPr/>
          <p:nvPr/>
        </p:nvSpPr>
        <p:spPr>
          <a:xfrm>
            <a:off x="137160" y="1883664"/>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Learned core concepts of Kotlin for building Android applications.</a:t>
            </a:r>
            <a:endParaRPr lang="en-US" sz="1550" dirty="0"/>
          </a:p>
        </p:txBody>
      </p:sp>
      <p:sp>
        <p:nvSpPr>
          <p:cNvPr id="9" name="Text 6"/>
          <p:cNvSpPr/>
          <p:nvPr/>
        </p:nvSpPr>
        <p:spPr>
          <a:xfrm>
            <a:off x="137160" y="2377440"/>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Completed Jetpack Compose and Android Development Codelabs</a:t>
            </a:r>
            <a:endParaRPr lang="en-US" sz="1550" dirty="0"/>
          </a:p>
        </p:txBody>
      </p:sp>
      <p:sp>
        <p:nvSpPr>
          <p:cNvPr id="10" name="Text 7"/>
          <p:cNvSpPr/>
          <p:nvPr/>
        </p:nvSpPr>
        <p:spPr>
          <a:xfrm>
            <a:off x="137160" y="2871216"/>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Worked on Android Architecture, Navigation, Firebase, and TensorFlow Lite</a:t>
            </a:r>
            <a:endParaRPr lang="en-US" sz="1550" dirty="0"/>
          </a:p>
        </p:txBody>
      </p:sp>
      <p:sp>
        <p:nvSpPr>
          <p:cNvPr id="11" name="Text 8"/>
          <p:cNvSpPr/>
          <p:nvPr/>
        </p:nvSpPr>
        <p:spPr>
          <a:xfrm>
            <a:off x="137160" y="3364992"/>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Developed UI/UX prototypes for Jenu Gempu using Google AI Studio</a:t>
            </a:r>
            <a:endParaRPr lang="en-US" sz="1550" dirty="0"/>
          </a:p>
        </p:txBody>
      </p:sp>
      <p:sp>
        <p:nvSpPr>
          <p:cNvPr id="12" name="Text 9"/>
          <p:cNvSpPr/>
          <p:nvPr/>
        </p:nvSpPr>
        <p:spPr>
          <a:xfrm>
            <a:off x="137160" y="3858768"/>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Prepared and planned the Jenu Gempu Android application project</a:t>
            </a:r>
            <a:endParaRPr lang="en-US" sz="1550" dirty="0"/>
          </a:p>
        </p:txBody>
      </p:sp>
      <p:sp>
        <p:nvSpPr>
          <p:cNvPr id="13" name="Text 10"/>
          <p:cNvSpPr/>
          <p:nvPr/>
        </p:nvSpPr>
        <p:spPr>
          <a:xfrm>
            <a:off x="137160" y="4352544"/>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Explored Gemini API integration, GenAI features, and multilingual (Kannada/English) support</a:t>
            </a:r>
            <a:endParaRPr lang="en-US" sz="1550" dirty="0"/>
          </a:p>
        </p:txBody>
      </p:sp>
      <p:sp>
        <p:nvSpPr>
          <p:cNvPr id="14" name="Shape 11"/>
          <p:cNvSpPr/>
          <p:nvPr/>
        </p:nvSpPr>
        <p:spPr>
          <a:xfrm>
            <a:off x="0" y="4873752"/>
            <a:ext cx="9144000" cy="269748"/>
          </a:xfrm>
          <a:prstGeom prst="rect">
            <a:avLst/>
          </a:prstGeom>
          <a:solidFill>
            <a:srgbClr val="C9956A"/>
          </a:solidFill>
          <a:ln w="12700">
            <a:solidFill>
              <a:srgbClr val="C9956A"/>
            </a:solidFill>
            <a:prstDash val="solid"/>
          </a:ln>
        </p:spPr>
      </p:sp>
      <p:sp>
        <p:nvSpPr>
          <p:cNvPr id="15" name="Text 12"/>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6" name="Text 13"/>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KEY LEARNINGS</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137160" y="896112"/>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Learned basics of GenAI and AI agent design through AgentBlazer Champion 2026</a:t>
            </a:r>
            <a:endParaRPr lang="en-US" sz="1550" dirty="0"/>
          </a:p>
        </p:txBody>
      </p:sp>
      <p:sp>
        <p:nvSpPr>
          <p:cNvPr id="7" name="Text 4"/>
          <p:cNvSpPr/>
          <p:nvPr/>
        </p:nvSpPr>
        <p:spPr>
          <a:xfrm>
            <a:off x="137160" y="1389888"/>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Explored how Gemini API helps in faster agricultural chatbot prototyping and app building</a:t>
            </a:r>
            <a:endParaRPr lang="en-US" sz="1550" dirty="0"/>
          </a:p>
        </p:txBody>
      </p:sp>
      <p:sp>
        <p:nvSpPr>
          <p:cNvPr id="8" name="Text 5"/>
          <p:cNvSpPr/>
          <p:nvPr/>
        </p:nvSpPr>
        <p:spPr>
          <a:xfrm>
            <a:off x="137160" y="1883664"/>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Developed practical skills in Kotlin and Android Studio</a:t>
            </a:r>
            <a:endParaRPr lang="en-US" sz="1550" dirty="0"/>
          </a:p>
        </p:txBody>
      </p:sp>
      <p:sp>
        <p:nvSpPr>
          <p:cNvPr id="9" name="Text 6"/>
          <p:cNvSpPr/>
          <p:nvPr/>
        </p:nvSpPr>
        <p:spPr>
          <a:xfrm>
            <a:off x="137160" y="2377440"/>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Gained practical knowledge of Jetpack Compose and modern Android development</a:t>
            </a:r>
            <a:endParaRPr lang="en-US" sz="1550" dirty="0"/>
          </a:p>
        </p:txBody>
      </p:sp>
      <p:sp>
        <p:nvSpPr>
          <p:cNvPr id="10" name="Text 7"/>
          <p:cNvSpPr/>
          <p:nvPr/>
        </p:nvSpPr>
        <p:spPr>
          <a:xfrm>
            <a:off x="137160" y="2871216"/>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Learned MVVM architecture, navigation, and responsive UI design</a:t>
            </a:r>
            <a:endParaRPr lang="en-US" sz="1550" dirty="0"/>
          </a:p>
        </p:txBody>
      </p:sp>
      <p:sp>
        <p:nvSpPr>
          <p:cNvPr id="11" name="Text 8"/>
          <p:cNvSpPr/>
          <p:nvPr/>
        </p:nvSpPr>
        <p:spPr>
          <a:xfrm>
            <a:off x="137160" y="3364992"/>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Understood Firebase, TensorFlow Lite, and background task management</a:t>
            </a:r>
            <a:endParaRPr lang="en-US" sz="1550" dirty="0"/>
          </a:p>
        </p:txBody>
      </p:sp>
      <p:sp>
        <p:nvSpPr>
          <p:cNvPr id="12" name="Text 9"/>
          <p:cNvSpPr/>
          <p:nvPr/>
        </p:nvSpPr>
        <p:spPr>
          <a:xfrm>
            <a:off x="137160" y="3858768"/>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Improved UI/UX prototyping and application planning skills using Google AI Studio</a:t>
            </a:r>
            <a:endParaRPr lang="en-US" sz="1550" dirty="0"/>
          </a:p>
        </p:txBody>
      </p:sp>
      <p:sp>
        <p:nvSpPr>
          <p:cNvPr id="13" name="Text 10"/>
          <p:cNvSpPr/>
          <p:nvPr/>
        </p:nvSpPr>
        <p:spPr>
          <a:xfrm>
            <a:off x="137160" y="4352544"/>
            <a:ext cx="8869680" cy="457200"/>
          </a:xfrm>
          <a:prstGeom prst="rect">
            <a:avLst/>
          </a:prstGeom>
          <a:noFill/>
          <a:ln/>
        </p:spPr>
        <p:txBody>
          <a:bodyPr wrap="square" rtlCol="0" anchor="ctr"/>
          <a:lstStyle/>
          <a:p>
            <a:pPr indent="0" marL="0">
              <a:buNone/>
            </a:pPr>
            <a:r>
              <a:rPr lang="en-US" sz="1550" dirty="0">
                <a:solidFill>
                  <a:srgbClr val="0D3349"/>
                </a:solidFill>
                <a:latin typeface="Arial" pitchFamily="34" charset="0"/>
                <a:ea typeface="Arial" pitchFamily="34" charset="-122"/>
                <a:cs typeface="Arial" pitchFamily="34" charset="-120"/>
              </a:rPr>
              <a:t>❯  Developed problem-solving, project documentation, and scalable application design skills</a:t>
            </a:r>
            <a:endParaRPr lang="en-US" sz="1550" dirty="0"/>
          </a:p>
        </p:txBody>
      </p:sp>
      <p:sp>
        <p:nvSpPr>
          <p:cNvPr id="14" name="Shape 11"/>
          <p:cNvSpPr/>
          <p:nvPr/>
        </p:nvSpPr>
        <p:spPr>
          <a:xfrm>
            <a:off x="0" y="4873752"/>
            <a:ext cx="9144000" cy="269748"/>
          </a:xfrm>
          <a:prstGeom prst="rect">
            <a:avLst/>
          </a:prstGeom>
          <a:solidFill>
            <a:srgbClr val="C9956A"/>
          </a:solidFill>
          <a:ln w="12700">
            <a:solidFill>
              <a:srgbClr val="C9956A"/>
            </a:solidFill>
            <a:prstDash val="solid"/>
          </a:ln>
        </p:spPr>
      </p:sp>
      <p:sp>
        <p:nvSpPr>
          <p:cNvPr id="15" name="Text 12"/>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6" name="Text 13"/>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CHALLENGES ENCOUNTERED</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137160" y="960120"/>
            <a:ext cx="8869680" cy="8229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Adapting to new tools such as Android Studio and Google AI Studio, while learning Kotlin programming.</a:t>
            </a:r>
            <a:endParaRPr lang="en-US" sz="1800" dirty="0"/>
          </a:p>
        </p:txBody>
      </p:sp>
      <p:sp>
        <p:nvSpPr>
          <p:cNvPr id="7" name="Text 4"/>
          <p:cNvSpPr/>
          <p:nvPr/>
        </p:nvSpPr>
        <p:spPr>
          <a:xfrm>
            <a:off x="137160" y="1874520"/>
            <a:ext cx="8869680" cy="8229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Managed time and workload efficiently throughout the internship.</a:t>
            </a:r>
            <a:endParaRPr lang="en-US" sz="1800" dirty="0"/>
          </a:p>
        </p:txBody>
      </p:sp>
      <p:sp>
        <p:nvSpPr>
          <p:cNvPr id="8" name="Text 5"/>
          <p:cNvSpPr/>
          <p:nvPr/>
        </p:nvSpPr>
        <p:spPr>
          <a:xfrm>
            <a:off x="137160" y="2788920"/>
            <a:ext cx="8869680" cy="8229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Learned to interpret and apply Gemini API and TensorFlow Lite outputs in practical agricultural app development.</a:t>
            </a:r>
            <a:endParaRPr lang="en-US" sz="1800" dirty="0"/>
          </a:p>
        </p:txBody>
      </p:sp>
      <p:sp>
        <p:nvSpPr>
          <p:cNvPr id="9" name="Text 6"/>
          <p:cNvSpPr/>
          <p:nvPr/>
        </p:nvSpPr>
        <p:spPr>
          <a:xfrm>
            <a:off x="137160" y="3703320"/>
            <a:ext cx="8869680" cy="822960"/>
          </a:xfrm>
          <a:prstGeom prst="rect">
            <a:avLst/>
          </a:prstGeom>
          <a:noFill/>
          <a:ln/>
        </p:spPr>
        <p:txBody>
          <a:bodyPr wrap="square" rtlCol="0" anchor="ctr"/>
          <a:lstStyle/>
          <a:p>
            <a:pPr indent="0" marL="0">
              <a:buNone/>
            </a:pPr>
            <a:r>
              <a:rPr lang="en-US" sz="1800" dirty="0">
                <a:solidFill>
                  <a:srgbClr val="0D3349"/>
                </a:solidFill>
                <a:latin typeface="Arial" pitchFamily="34" charset="0"/>
                <a:ea typeface="Arial" pitchFamily="34" charset="-122"/>
                <a:cs typeface="Arial" pitchFamily="34" charset="-120"/>
              </a:rPr>
              <a:t>❯  Implementing multilingual (Kannada and English) voice support for rural users with limited digital literacy.</a:t>
            </a:r>
            <a:endParaRPr lang="en-US" sz="1800" dirty="0"/>
          </a:p>
        </p:txBody>
      </p:sp>
      <p:sp>
        <p:nvSpPr>
          <p:cNvPr id="10" name="Shape 7"/>
          <p:cNvSpPr/>
          <p:nvPr/>
        </p:nvSpPr>
        <p:spPr>
          <a:xfrm>
            <a:off x="0" y="4873752"/>
            <a:ext cx="9144000" cy="269748"/>
          </a:xfrm>
          <a:prstGeom prst="rect">
            <a:avLst/>
          </a:prstGeom>
          <a:solidFill>
            <a:srgbClr val="C9956A"/>
          </a:solidFill>
          <a:ln w="12700">
            <a:solidFill>
              <a:srgbClr val="C9956A"/>
            </a:solidFill>
            <a:prstDash val="solid"/>
          </a:ln>
        </p:spPr>
      </p:sp>
      <p:sp>
        <p:nvSpPr>
          <p:cNvPr id="11" name="Text 8"/>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2" name="Text 9"/>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PROJECT: JENU GEMPU</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274320" y="1005840"/>
            <a:ext cx="8595360" cy="502920"/>
          </a:xfrm>
          <a:prstGeom prst="rect">
            <a:avLst/>
          </a:prstGeom>
          <a:noFill/>
          <a:ln/>
        </p:spPr>
        <p:txBody>
          <a:bodyPr wrap="square" rtlCol="0" anchor="ctr"/>
          <a:lstStyle/>
          <a:p>
            <a:pPr algn="ctr" indent="0" marL="0">
              <a:buNone/>
            </a:pPr>
            <a:r>
              <a:rPr lang="en-US" sz="2600" b="1" dirty="0">
                <a:solidFill>
                  <a:srgbClr val="0D3349"/>
                </a:solidFill>
                <a:latin typeface="Arial Black" pitchFamily="34" charset="0"/>
                <a:ea typeface="Arial Black" pitchFamily="34" charset="-122"/>
                <a:cs typeface="Arial Black" pitchFamily="34" charset="-120"/>
              </a:rPr>
              <a:t>Problem Statement</a:t>
            </a:r>
            <a:endParaRPr lang="en-US" sz="2600" dirty="0"/>
          </a:p>
        </p:txBody>
      </p:sp>
      <p:sp>
        <p:nvSpPr>
          <p:cNvPr id="7" name="Text 4"/>
          <p:cNvSpPr/>
          <p:nvPr/>
        </p:nvSpPr>
        <p:spPr>
          <a:xfrm>
            <a:off x="137160" y="1554480"/>
            <a:ext cx="8869680" cy="3200400"/>
          </a:xfrm>
          <a:prstGeom prst="rect">
            <a:avLst/>
          </a:prstGeom>
          <a:noFill/>
          <a:ln/>
        </p:spPr>
        <p:txBody>
          <a:bodyPr wrap="square" rtlCol="0" anchor="ctr"/>
          <a:lstStyle/>
          <a:p>
            <a:pPr algn="just" indent="0" marL="0">
              <a:buNone/>
            </a:pPr>
            <a:r>
              <a:rPr lang="en-US" sz="1700" dirty="0">
                <a:solidFill>
                  <a:srgbClr val="0D3349"/>
                </a:solidFill>
                <a:latin typeface="Arial" pitchFamily="34" charset="0"/>
                <a:ea typeface="Arial" pitchFamily="34" charset="-122"/>
                <a:cs typeface="Arial" pitchFamily="34" charset="-120"/>
              </a:rPr>
              <a:t>Agriculture is one of the most important sectors in India, but many farmers still face challenges accessing modern technology and expert guidance. Farmers struggle with crop diseases, climate changes, irrigation problems, and lack of market information. Existing agricultural support systems are either difficult to use, available only in English, or require direct access to expensive agricultural experts. Many farmers cannot afford professional consultation regularly. Rural entrepreneurs also face difficulties in finding self-employment opportunities and business guidance. Due to these problems, crop losses and unemployment increase in rural areas.</a:t>
            </a:r>
            <a:endParaRPr lang="en-US" sz="1700" dirty="0"/>
          </a:p>
        </p:txBody>
      </p:sp>
      <p:sp>
        <p:nvSpPr>
          <p:cNvPr id="8" name="Shape 5"/>
          <p:cNvSpPr/>
          <p:nvPr/>
        </p:nvSpPr>
        <p:spPr>
          <a:xfrm>
            <a:off x="0" y="4873752"/>
            <a:ext cx="9144000" cy="269748"/>
          </a:xfrm>
          <a:prstGeom prst="rect">
            <a:avLst/>
          </a:prstGeom>
          <a:solidFill>
            <a:srgbClr val="C9956A"/>
          </a:solidFill>
          <a:ln w="12700">
            <a:solidFill>
              <a:srgbClr val="C9956A"/>
            </a:solidFill>
            <a:prstDash val="solid"/>
          </a:ln>
        </p:spPr>
      </p:sp>
      <p:sp>
        <p:nvSpPr>
          <p:cNvPr id="9" name="Text 6"/>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0" name="Text 7"/>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PROJECT: JENU GEMPU</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274320" y="914400"/>
            <a:ext cx="8595360" cy="457200"/>
          </a:xfrm>
          <a:prstGeom prst="rect">
            <a:avLst/>
          </a:prstGeom>
          <a:noFill/>
          <a:ln/>
        </p:spPr>
        <p:txBody>
          <a:bodyPr wrap="square" rtlCol="0" anchor="ctr"/>
          <a:lstStyle/>
          <a:p>
            <a:pPr algn="ctr" indent="0" marL="0">
              <a:buNone/>
            </a:pPr>
            <a:r>
              <a:rPr lang="en-US" sz="2400" b="1" dirty="0">
                <a:solidFill>
                  <a:srgbClr val="0D3349"/>
                </a:solidFill>
                <a:latin typeface="Arial Black" pitchFamily="34" charset="0"/>
                <a:ea typeface="Arial Black" pitchFamily="34" charset="-122"/>
                <a:cs typeface="Arial Black" pitchFamily="34" charset="-120"/>
              </a:rPr>
              <a:t>Proposed Solution — Jenu Gempu</a:t>
            </a:r>
            <a:endParaRPr lang="en-US" sz="2400" dirty="0"/>
          </a:p>
        </p:txBody>
      </p:sp>
      <p:sp>
        <p:nvSpPr>
          <p:cNvPr id="7" name="Text 4"/>
          <p:cNvSpPr/>
          <p:nvPr/>
        </p:nvSpPr>
        <p:spPr>
          <a:xfrm>
            <a:off x="137160" y="1389888"/>
            <a:ext cx="8869680" cy="274320"/>
          </a:xfrm>
          <a:prstGeom prst="rect">
            <a:avLst/>
          </a:prstGeom>
          <a:noFill/>
          <a:ln/>
        </p:spPr>
        <p:txBody>
          <a:bodyPr wrap="square" rtlCol="0" anchor="ctr"/>
          <a:lstStyle/>
          <a:p>
            <a:pPr indent="0" marL="0">
              <a:buNone/>
            </a:pPr>
            <a:r>
              <a:rPr lang="en-US" sz="1600" b="1" dirty="0">
                <a:solidFill>
                  <a:srgbClr val="0D3349"/>
                </a:solidFill>
                <a:latin typeface="Arial" pitchFamily="34" charset="0"/>
                <a:ea typeface="Arial" pitchFamily="34" charset="-122"/>
                <a:cs typeface="Arial" pitchFamily="34" charset="-120"/>
              </a:rPr>
              <a:t>Detailed Description (The Vision)</a:t>
            </a:r>
            <a:endParaRPr lang="en-US" sz="1600" dirty="0"/>
          </a:p>
        </p:txBody>
      </p:sp>
      <p:sp>
        <p:nvSpPr>
          <p:cNvPr id="8" name="Text 5"/>
          <p:cNvSpPr/>
          <p:nvPr/>
        </p:nvSpPr>
        <p:spPr>
          <a:xfrm>
            <a:off x="137160" y="1664208"/>
            <a:ext cx="8869680" cy="594360"/>
          </a:xfrm>
          <a:prstGeom prst="rect">
            <a:avLst/>
          </a:prstGeom>
          <a:noFill/>
          <a:ln/>
        </p:spPr>
        <p:txBody>
          <a:bodyPr wrap="square" rtlCol="0" anchor="ctr"/>
          <a:lstStyle/>
          <a:p>
            <a:pPr algn="just" indent="0" marL="0">
              <a:buNone/>
            </a:pPr>
            <a:r>
              <a:rPr lang="en-US" sz="1450" dirty="0">
                <a:solidFill>
                  <a:srgbClr val="0D3349"/>
                </a:solidFill>
                <a:latin typeface="Arial" pitchFamily="34" charset="0"/>
                <a:ea typeface="Arial" pitchFamily="34" charset="-122"/>
                <a:cs typeface="Arial" pitchFamily="34" charset="-120"/>
              </a:rPr>
              <a:t>Jenu Gempu is an AI-powered Android application for farmers and rural communities. It provides instant agricultural support using Generative AI, including crop disease detection via image analysis, weather-based crop suggestions, and self-employment guidance — all in simple Kannada and English language.</a:t>
            </a:r>
            <a:endParaRPr lang="en-US" sz="1450" dirty="0"/>
          </a:p>
        </p:txBody>
      </p:sp>
      <p:sp>
        <p:nvSpPr>
          <p:cNvPr id="9" name="Text 6"/>
          <p:cNvSpPr/>
          <p:nvPr/>
        </p:nvSpPr>
        <p:spPr>
          <a:xfrm>
            <a:off x="137160" y="2286000"/>
            <a:ext cx="8869680" cy="274320"/>
          </a:xfrm>
          <a:prstGeom prst="rect">
            <a:avLst/>
          </a:prstGeom>
          <a:noFill/>
          <a:ln/>
        </p:spPr>
        <p:txBody>
          <a:bodyPr wrap="square" rtlCol="0" anchor="ctr"/>
          <a:lstStyle/>
          <a:p>
            <a:pPr indent="0" marL="0">
              <a:buNone/>
            </a:pPr>
            <a:r>
              <a:rPr lang="en-US" sz="1600" b="1" dirty="0">
                <a:solidFill>
                  <a:srgbClr val="0D3349"/>
                </a:solidFill>
                <a:latin typeface="Arial" pitchFamily="34" charset="0"/>
                <a:ea typeface="Arial" pitchFamily="34" charset="-122"/>
                <a:cs typeface="Arial" pitchFamily="34" charset="-120"/>
              </a:rPr>
              <a:t>App Usage &amp; User Flow</a:t>
            </a:r>
            <a:endParaRPr lang="en-US" sz="1600" dirty="0"/>
          </a:p>
        </p:txBody>
      </p:sp>
      <p:sp>
        <p:nvSpPr>
          <p:cNvPr id="10" name="Text 7"/>
          <p:cNvSpPr/>
          <p:nvPr/>
        </p:nvSpPr>
        <p:spPr>
          <a:xfrm>
            <a:off x="137160" y="2578608"/>
            <a:ext cx="8869680" cy="320040"/>
          </a:xfrm>
          <a:prstGeom prst="rect">
            <a:avLst/>
          </a:prstGeom>
          <a:noFill/>
          <a:ln/>
        </p:spPr>
        <p:txBody>
          <a:bodyPr wrap="square" rtlCol="0" anchor="ctr"/>
          <a:lstStyle/>
          <a:p>
            <a:pPr indent="0" marL="0">
              <a:buNone/>
            </a:pPr>
            <a:r>
              <a:rPr lang="en-US" sz="1400" dirty="0">
                <a:solidFill>
                  <a:srgbClr val="0D3349"/>
                </a:solidFill>
                <a:latin typeface="Arial" pitchFamily="34" charset="0"/>
                <a:ea typeface="Arial" pitchFamily="34" charset="-122"/>
                <a:cs typeface="Arial" pitchFamily="34" charset="-120"/>
              </a:rPr>
              <a:t>●  AI Chatbot: Ask farming questions via text or voice — Gemini API gives instant answers.</a:t>
            </a:r>
            <a:endParaRPr lang="en-US" sz="1400" dirty="0"/>
          </a:p>
        </p:txBody>
      </p:sp>
      <p:sp>
        <p:nvSpPr>
          <p:cNvPr id="11" name="Text 8"/>
          <p:cNvSpPr/>
          <p:nvPr/>
        </p:nvSpPr>
        <p:spPr>
          <a:xfrm>
            <a:off x="137160" y="2926080"/>
            <a:ext cx="8869680" cy="320040"/>
          </a:xfrm>
          <a:prstGeom prst="rect">
            <a:avLst/>
          </a:prstGeom>
          <a:noFill/>
          <a:ln/>
        </p:spPr>
        <p:txBody>
          <a:bodyPr wrap="square" rtlCol="0" anchor="ctr"/>
          <a:lstStyle/>
          <a:p>
            <a:pPr indent="0" marL="0">
              <a:buNone/>
            </a:pPr>
            <a:r>
              <a:rPr lang="en-US" sz="1400" dirty="0">
                <a:solidFill>
                  <a:srgbClr val="0D3349"/>
                </a:solidFill>
                <a:latin typeface="Arial" pitchFamily="34" charset="0"/>
                <a:ea typeface="Arial" pitchFamily="34" charset="-122"/>
                <a:cs typeface="Arial" pitchFamily="34" charset="-120"/>
              </a:rPr>
              <a:t>●  Disease Detection: Upload crop photo — TensorFlow Lite identifies disease and suggests treatment.</a:t>
            </a:r>
            <a:endParaRPr lang="en-US" sz="1400" dirty="0"/>
          </a:p>
        </p:txBody>
      </p:sp>
      <p:sp>
        <p:nvSpPr>
          <p:cNvPr id="12" name="Text 9"/>
          <p:cNvSpPr/>
          <p:nvPr/>
        </p:nvSpPr>
        <p:spPr>
          <a:xfrm>
            <a:off x="137160" y="3273552"/>
            <a:ext cx="8869680" cy="320040"/>
          </a:xfrm>
          <a:prstGeom prst="rect">
            <a:avLst/>
          </a:prstGeom>
          <a:noFill/>
          <a:ln/>
        </p:spPr>
        <p:txBody>
          <a:bodyPr wrap="square" rtlCol="0" anchor="ctr"/>
          <a:lstStyle/>
          <a:p>
            <a:pPr indent="0" marL="0">
              <a:buNone/>
            </a:pPr>
            <a:r>
              <a:rPr lang="en-US" sz="1400" dirty="0">
                <a:solidFill>
                  <a:srgbClr val="0D3349"/>
                </a:solidFill>
                <a:latin typeface="Arial" pitchFamily="34" charset="0"/>
                <a:ea typeface="Arial" pitchFamily="34" charset="-122"/>
                <a:cs typeface="Arial" pitchFamily="34" charset="-120"/>
              </a:rPr>
              <a:t>●  Weather Crops: Live weather API recommends suitable crops and irrigation methods.</a:t>
            </a:r>
            <a:endParaRPr lang="en-US" sz="1400" dirty="0"/>
          </a:p>
        </p:txBody>
      </p:sp>
      <p:sp>
        <p:nvSpPr>
          <p:cNvPr id="13" name="Text 10"/>
          <p:cNvSpPr/>
          <p:nvPr/>
        </p:nvSpPr>
        <p:spPr>
          <a:xfrm>
            <a:off x="137160" y="3621024"/>
            <a:ext cx="8869680" cy="320040"/>
          </a:xfrm>
          <a:prstGeom prst="rect">
            <a:avLst/>
          </a:prstGeom>
          <a:noFill/>
          <a:ln/>
        </p:spPr>
        <p:txBody>
          <a:bodyPr wrap="square" rtlCol="0" anchor="ctr"/>
          <a:lstStyle/>
          <a:p>
            <a:pPr indent="0" marL="0">
              <a:buNone/>
            </a:pPr>
            <a:r>
              <a:rPr lang="en-US" sz="1400" dirty="0">
                <a:solidFill>
                  <a:srgbClr val="0D3349"/>
                </a:solidFill>
                <a:latin typeface="Arial" pitchFamily="34" charset="0"/>
                <a:ea typeface="Arial" pitchFamily="34" charset="-122"/>
                <a:cs typeface="Arial" pitchFamily="34" charset="-120"/>
              </a:rPr>
              <a:t>●  Self-Employment: Guidance for dairy, poultry, mushroom, and organic farming businesses.</a:t>
            </a:r>
            <a:endParaRPr lang="en-US" sz="1400" dirty="0"/>
          </a:p>
        </p:txBody>
      </p:sp>
      <p:sp>
        <p:nvSpPr>
          <p:cNvPr id="14" name="Text 11"/>
          <p:cNvSpPr/>
          <p:nvPr/>
        </p:nvSpPr>
        <p:spPr>
          <a:xfrm>
            <a:off x="137160" y="3977640"/>
            <a:ext cx="8869680" cy="274320"/>
          </a:xfrm>
          <a:prstGeom prst="rect">
            <a:avLst/>
          </a:prstGeom>
          <a:noFill/>
          <a:ln/>
        </p:spPr>
        <p:txBody>
          <a:bodyPr wrap="square" rtlCol="0" anchor="ctr"/>
          <a:lstStyle/>
          <a:p>
            <a:pPr indent="0" marL="0">
              <a:buNone/>
            </a:pPr>
            <a:r>
              <a:rPr lang="en-US" sz="1600" b="1" dirty="0">
                <a:solidFill>
                  <a:srgbClr val="0D3349"/>
                </a:solidFill>
                <a:latin typeface="Arial" pitchFamily="34" charset="0"/>
                <a:ea typeface="Arial" pitchFamily="34" charset="-122"/>
                <a:cs typeface="Arial" pitchFamily="34" charset="-120"/>
              </a:rPr>
              <a:t>Impact Goals</a:t>
            </a:r>
            <a:endParaRPr lang="en-US" sz="1600" dirty="0"/>
          </a:p>
        </p:txBody>
      </p:sp>
      <p:sp>
        <p:nvSpPr>
          <p:cNvPr id="15" name="Text 12"/>
          <p:cNvSpPr/>
          <p:nvPr/>
        </p:nvSpPr>
        <p:spPr>
          <a:xfrm>
            <a:off x="137160" y="4270248"/>
            <a:ext cx="8869680" cy="256032"/>
          </a:xfrm>
          <a:prstGeom prst="rect">
            <a:avLst/>
          </a:prstGeom>
          <a:noFill/>
          <a:ln/>
        </p:spPr>
        <p:txBody>
          <a:bodyPr wrap="square" rtlCol="0" anchor="ctr"/>
          <a:lstStyle/>
          <a:p>
            <a:pPr indent="0" marL="0">
              <a:buNone/>
            </a:pPr>
            <a:r>
              <a:rPr lang="en-US" sz="1250" dirty="0">
                <a:solidFill>
                  <a:srgbClr val="0D3349"/>
                </a:solidFill>
                <a:latin typeface="Arial" pitchFamily="34" charset="0"/>
                <a:ea typeface="Arial" pitchFamily="34" charset="-122"/>
                <a:cs typeface="Arial" pitchFamily="34" charset="-120"/>
              </a:rPr>
              <a:t>●  Reduce Crop Loss: Early disease detection and treatment recommendations protect crops.</a:t>
            </a:r>
            <a:endParaRPr lang="en-US" sz="1250" dirty="0"/>
          </a:p>
        </p:txBody>
      </p:sp>
      <p:sp>
        <p:nvSpPr>
          <p:cNvPr id="16" name="Text 13"/>
          <p:cNvSpPr/>
          <p:nvPr/>
        </p:nvSpPr>
        <p:spPr>
          <a:xfrm>
            <a:off x="137160" y="4453128"/>
            <a:ext cx="8869680" cy="256032"/>
          </a:xfrm>
          <a:prstGeom prst="rect">
            <a:avLst/>
          </a:prstGeom>
          <a:noFill/>
          <a:ln/>
        </p:spPr>
        <p:txBody>
          <a:bodyPr wrap="square" rtlCol="0" anchor="ctr"/>
          <a:lstStyle/>
          <a:p>
            <a:pPr indent="0" marL="0">
              <a:buNone/>
            </a:pPr>
            <a:r>
              <a:rPr lang="en-US" sz="1250" dirty="0">
                <a:solidFill>
                  <a:srgbClr val="0D3349"/>
                </a:solidFill>
                <a:latin typeface="Arial" pitchFamily="34" charset="0"/>
                <a:ea typeface="Arial" pitchFamily="34" charset="-122"/>
                <a:cs typeface="Arial" pitchFamily="34" charset="-120"/>
              </a:rPr>
              <a:t>●  Promote Self-Employment: Encourage rural youth to start small agri-businesses.</a:t>
            </a:r>
            <a:endParaRPr lang="en-US" sz="1250" dirty="0"/>
          </a:p>
        </p:txBody>
      </p:sp>
      <p:sp>
        <p:nvSpPr>
          <p:cNvPr id="17" name="Text 14"/>
          <p:cNvSpPr/>
          <p:nvPr/>
        </p:nvSpPr>
        <p:spPr>
          <a:xfrm>
            <a:off x="137160" y="4636008"/>
            <a:ext cx="8869680" cy="256032"/>
          </a:xfrm>
          <a:prstGeom prst="rect">
            <a:avLst/>
          </a:prstGeom>
          <a:noFill/>
          <a:ln/>
        </p:spPr>
        <p:txBody>
          <a:bodyPr wrap="square" rtlCol="0" anchor="ctr"/>
          <a:lstStyle/>
          <a:p>
            <a:pPr indent="0" marL="0">
              <a:buNone/>
            </a:pPr>
            <a:r>
              <a:rPr lang="en-US" sz="1250" dirty="0">
                <a:solidFill>
                  <a:srgbClr val="0D3349"/>
                </a:solidFill>
                <a:latin typeface="Arial" pitchFamily="34" charset="0"/>
                <a:ea typeface="Arial" pitchFamily="34" charset="-122"/>
                <a:cs typeface="Arial" pitchFamily="34" charset="-120"/>
              </a:rPr>
              <a:t>●  Language Accessibility: Kannada and English support for comfortable rural user interaction.</a:t>
            </a:r>
            <a:endParaRPr lang="en-US" sz="1250" dirty="0"/>
          </a:p>
        </p:txBody>
      </p:sp>
      <p:sp>
        <p:nvSpPr>
          <p:cNvPr id="18" name="Shape 15"/>
          <p:cNvSpPr/>
          <p:nvPr/>
        </p:nvSpPr>
        <p:spPr>
          <a:xfrm>
            <a:off x="0" y="4873752"/>
            <a:ext cx="9144000" cy="269748"/>
          </a:xfrm>
          <a:prstGeom prst="rect">
            <a:avLst/>
          </a:prstGeom>
          <a:solidFill>
            <a:srgbClr val="C9956A"/>
          </a:solidFill>
          <a:ln w="12700">
            <a:solidFill>
              <a:srgbClr val="C9956A"/>
            </a:solidFill>
            <a:prstDash val="solid"/>
          </a:ln>
        </p:spPr>
      </p:sp>
      <p:sp>
        <p:nvSpPr>
          <p:cNvPr id="19" name="Text 16"/>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20" name="Text 17"/>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18288" y="18288"/>
            <a:ext cx="822960" cy="822960"/>
          </a:xfrm>
          <a:prstGeom prst="rect">
            <a:avLst/>
          </a:prstGeom>
        </p:spPr>
      </p:pic>
      <p:sp>
        <p:nvSpPr>
          <p:cNvPr id="4" name="Text 1"/>
          <p:cNvSpPr/>
          <p:nvPr/>
        </p:nvSpPr>
        <p:spPr>
          <a:xfrm>
            <a:off x="868680" y="45720"/>
            <a:ext cx="7132320" cy="777240"/>
          </a:xfrm>
          <a:prstGeom prst="rect">
            <a:avLst/>
          </a:prstGeom>
          <a:noFill/>
          <a:ln/>
        </p:spPr>
        <p:txBody>
          <a:bodyPr wrap="square" rtlCol="0" anchor="ctr"/>
          <a:lstStyle/>
          <a:p>
            <a:pPr algn="ctr" indent="0" marL="0">
              <a:buNone/>
            </a:pPr>
            <a:r>
              <a:rPr lang="en-US" sz="3200" b="1" dirty="0">
                <a:solidFill>
                  <a:srgbClr val="8B2500"/>
                </a:solidFill>
                <a:latin typeface="Arial Black" pitchFamily="34" charset="0"/>
                <a:ea typeface="Arial Black" pitchFamily="34" charset="-122"/>
                <a:cs typeface="Arial Black" pitchFamily="34" charset="-120"/>
              </a:rPr>
              <a:t>PROJECT: JENU GEMPU</a:t>
            </a:r>
            <a:endParaRPr lang="en-US" sz="3200" dirty="0"/>
          </a:p>
        </p:txBody>
      </p:sp>
      <p:sp>
        <p:nvSpPr>
          <p:cNvPr id="5" name="Text 2"/>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6" name="Text 3"/>
          <p:cNvSpPr/>
          <p:nvPr/>
        </p:nvSpPr>
        <p:spPr>
          <a:xfrm>
            <a:off x="274320" y="914400"/>
            <a:ext cx="8595360" cy="411480"/>
          </a:xfrm>
          <a:prstGeom prst="rect">
            <a:avLst/>
          </a:prstGeom>
          <a:noFill/>
          <a:ln/>
        </p:spPr>
        <p:txBody>
          <a:bodyPr wrap="square" rtlCol="0" anchor="ctr"/>
          <a:lstStyle/>
          <a:p>
            <a:pPr algn="ctr" indent="0" marL="0">
              <a:buNone/>
            </a:pPr>
            <a:r>
              <a:rPr lang="en-US" sz="2200" b="1" dirty="0">
                <a:solidFill>
                  <a:srgbClr val="0D3349"/>
                </a:solidFill>
                <a:latin typeface="Arial Black" pitchFamily="34" charset="0"/>
                <a:ea typeface="Arial Black" pitchFamily="34" charset="-122"/>
                <a:cs typeface="Arial Black" pitchFamily="34" charset="-120"/>
              </a:rPr>
              <a:t>Key Features &amp; Technical Requirements</a:t>
            </a:r>
            <a:endParaRPr lang="en-US" sz="2200" dirty="0"/>
          </a:p>
        </p:txBody>
      </p:sp>
      <p:sp>
        <p:nvSpPr>
          <p:cNvPr id="7" name="Text 4"/>
          <p:cNvSpPr/>
          <p:nvPr/>
        </p:nvSpPr>
        <p:spPr>
          <a:xfrm>
            <a:off x="137160" y="1371600"/>
            <a:ext cx="4297680" cy="301752"/>
          </a:xfrm>
          <a:prstGeom prst="rect">
            <a:avLst/>
          </a:prstGeom>
          <a:noFill/>
          <a:ln/>
        </p:spPr>
        <p:txBody>
          <a:bodyPr wrap="square" rtlCol="0" anchor="ctr"/>
          <a:lstStyle/>
          <a:p>
            <a:pPr indent="0" marL="0">
              <a:buNone/>
            </a:pPr>
            <a:r>
              <a:rPr lang="en-US" sz="1600" b="1" dirty="0">
                <a:solidFill>
                  <a:srgbClr val="0D3349"/>
                </a:solidFill>
                <a:latin typeface="Arial Black" pitchFamily="34" charset="0"/>
                <a:ea typeface="Arial Black" pitchFamily="34" charset="-122"/>
                <a:cs typeface="Arial Black" pitchFamily="34" charset="-120"/>
              </a:rPr>
              <a:t>Key Features:</a:t>
            </a:r>
            <a:endParaRPr lang="en-US" sz="1600" dirty="0"/>
          </a:p>
        </p:txBody>
      </p:sp>
      <p:sp>
        <p:nvSpPr>
          <p:cNvPr id="8" name="Text 5"/>
          <p:cNvSpPr/>
          <p:nvPr/>
        </p:nvSpPr>
        <p:spPr>
          <a:xfrm>
            <a:off x="137160" y="1691640"/>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AI Chatbot (Gemini API) — text &amp; voice</a:t>
            </a:r>
            <a:endParaRPr lang="en-US" sz="1350" dirty="0"/>
          </a:p>
        </p:txBody>
      </p:sp>
      <p:sp>
        <p:nvSpPr>
          <p:cNvPr id="9" name="Text 6"/>
          <p:cNvSpPr/>
          <p:nvPr/>
        </p:nvSpPr>
        <p:spPr>
          <a:xfrm>
            <a:off x="137160" y="2121408"/>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Crop Disease Detection (TensorFlow Lite)</a:t>
            </a:r>
            <a:endParaRPr lang="en-US" sz="1350" dirty="0"/>
          </a:p>
        </p:txBody>
      </p:sp>
      <p:sp>
        <p:nvSpPr>
          <p:cNvPr id="10" name="Text 7"/>
          <p:cNvSpPr/>
          <p:nvPr/>
        </p:nvSpPr>
        <p:spPr>
          <a:xfrm>
            <a:off x="137160" y="2551176"/>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Weather-Based Crop Suggestions</a:t>
            </a:r>
            <a:endParaRPr lang="en-US" sz="1350" dirty="0"/>
          </a:p>
        </p:txBody>
      </p:sp>
      <p:sp>
        <p:nvSpPr>
          <p:cNvPr id="11" name="Text 8"/>
          <p:cNvSpPr/>
          <p:nvPr/>
        </p:nvSpPr>
        <p:spPr>
          <a:xfrm>
            <a:off x="137160" y="2980944"/>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Self-Employment Guidance</a:t>
            </a:r>
            <a:endParaRPr lang="en-US" sz="1350" dirty="0"/>
          </a:p>
        </p:txBody>
      </p:sp>
      <p:sp>
        <p:nvSpPr>
          <p:cNvPr id="12" name="Text 9"/>
          <p:cNvSpPr/>
          <p:nvPr/>
        </p:nvSpPr>
        <p:spPr>
          <a:xfrm>
            <a:off x="137160" y="3410712"/>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Voice Support (Speech-to-Text / TTS)</a:t>
            </a:r>
            <a:endParaRPr lang="en-US" sz="1350" dirty="0"/>
          </a:p>
        </p:txBody>
      </p:sp>
      <p:sp>
        <p:nvSpPr>
          <p:cNvPr id="13" name="Text 10"/>
          <p:cNvSpPr/>
          <p:nvPr/>
        </p:nvSpPr>
        <p:spPr>
          <a:xfrm>
            <a:off x="137160" y="3840480"/>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Kannada &amp; English Multilingual Support</a:t>
            </a:r>
            <a:endParaRPr lang="en-US" sz="1350" dirty="0"/>
          </a:p>
        </p:txBody>
      </p:sp>
      <p:sp>
        <p:nvSpPr>
          <p:cNvPr id="14" name="Text 11"/>
          <p:cNvSpPr/>
          <p:nvPr/>
        </p:nvSpPr>
        <p:spPr>
          <a:xfrm>
            <a:off x="137160" y="4270248"/>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Government Scheme Information</a:t>
            </a:r>
            <a:endParaRPr lang="en-US" sz="1350" dirty="0"/>
          </a:p>
        </p:txBody>
      </p:sp>
      <p:sp>
        <p:nvSpPr>
          <p:cNvPr id="15" name="Text 12"/>
          <p:cNvSpPr/>
          <p:nvPr/>
        </p:nvSpPr>
        <p:spPr>
          <a:xfrm>
            <a:off x="4663440" y="1371600"/>
            <a:ext cx="4297680" cy="301752"/>
          </a:xfrm>
          <a:prstGeom prst="rect">
            <a:avLst/>
          </a:prstGeom>
          <a:noFill/>
          <a:ln/>
        </p:spPr>
        <p:txBody>
          <a:bodyPr wrap="square" rtlCol="0" anchor="ctr"/>
          <a:lstStyle/>
          <a:p>
            <a:pPr indent="0" marL="0">
              <a:buNone/>
            </a:pPr>
            <a:r>
              <a:rPr lang="en-US" sz="1600" b="1" dirty="0">
                <a:solidFill>
                  <a:srgbClr val="0D3349"/>
                </a:solidFill>
                <a:latin typeface="Arial Black" pitchFamily="34" charset="0"/>
                <a:ea typeface="Arial Black" pitchFamily="34" charset="-122"/>
                <a:cs typeface="Arial Black" pitchFamily="34" charset="-120"/>
              </a:rPr>
              <a:t>Technical Stack:</a:t>
            </a:r>
            <a:endParaRPr lang="en-US" sz="1600" dirty="0"/>
          </a:p>
        </p:txBody>
      </p:sp>
      <p:sp>
        <p:nvSpPr>
          <p:cNvPr id="16" name="Text 13"/>
          <p:cNvSpPr/>
          <p:nvPr/>
        </p:nvSpPr>
        <p:spPr>
          <a:xfrm>
            <a:off x="4663440" y="1691640"/>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Android Studio + Kotlin</a:t>
            </a:r>
            <a:endParaRPr lang="en-US" sz="1350" dirty="0"/>
          </a:p>
        </p:txBody>
      </p:sp>
      <p:sp>
        <p:nvSpPr>
          <p:cNvPr id="17" name="Text 14"/>
          <p:cNvSpPr/>
          <p:nvPr/>
        </p:nvSpPr>
        <p:spPr>
          <a:xfrm>
            <a:off x="4663440" y="2121408"/>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Firebase + Firestore Database</a:t>
            </a:r>
            <a:endParaRPr lang="en-US" sz="1350" dirty="0"/>
          </a:p>
        </p:txBody>
      </p:sp>
      <p:sp>
        <p:nvSpPr>
          <p:cNvPr id="18" name="Text 15"/>
          <p:cNvSpPr/>
          <p:nvPr/>
        </p:nvSpPr>
        <p:spPr>
          <a:xfrm>
            <a:off x="4663440" y="2551176"/>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Gemini API (Gen AI responses)</a:t>
            </a:r>
            <a:endParaRPr lang="en-US" sz="1350" dirty="0"/>
          </a:p>
        </p:txBody>
      </p:sp>
      <p:sp>
        <p:nvSpPr>
          <p:cNvPr id="19" name="Text 16"/>
          <p:cNvSpPr/>
          <p:nvPr/>
        </p:nvSpPr>
        <p:spPr>
          <a:xfrm>
            <a:off x="4663440" y="2980944"/>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TensorFlow Lite (Disease detection)</a:t>
            </a:r>
            <a:endParaRPr lang="en-US" sz="1350" dirty="0"/>
          </a:p>
        </p:txBody>
      </p:sp>
      <p:sp>
        <p:nvSpPr>
          <p:cNvPr id="20" name="Text 17"/>
          <p:cNvSpPr/>
          <p:nvPr/>
        </p:nvSpPr>
        <p:spPr>
          <a:xfrm>
            <a:off x="4663440" y="3410712"/>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Weather API (Live weather data)</a:t>
            </a:r>
            <a:endParaRPr lang="en-US" sz="1350" dirty="0"/>
          </a:p>
        </p:txBody>
      </p:sp>
      <p:sp>
        <p:nvSpPr>
          <p:cNvPr id="21" name="Text 18"/>
          <p:cNvSpPr/>
          <p:nvPr/>
        </p:nvSpPr>
        <p:spPr>
          <a:xfrm>
            <a:off x="4663440" y="3840480"/>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Speech-to-Text &amp; Text-to-Speech API</a:t>
            </a:r>
            <a:endParaRPr lang="en-US" sz="1350" dirty="0"/>
          </a:p>
        </p:txBody>
      </p:sp>
      <p:sp>
        <p:nvSpPr>
          <p:cNvPr id="22" name="Text 19"/>
          <p:cNvSpPr/>
          <p:nvPr/>
        </p:nvSpPr>
        <p:spPr>
          <a:xfrm>
            <a:off x="4663440" y="4270248"/>
            <a:ext cx="4297680" cy="402336"/>
          </a:xfrm>
          <a:prstGeom prst="rect">
            <a:avLst/>
          </a:prstGeom>
          <a:noFill/>
          <a:ln/>
        </p:spPr>
        <p:txBody>
          <a:bodyPr wrap="square" rtlCol="0" anchor="ctr"/>
          <a:lstStyle/>
          <a:p>
            <a:pPr indent="0" marL="0">
              <a:buNone/>
            </a:pPr>
            <a:r>
              <a:rPr lang="en-US" sz="1350" dirty="0">
                <a:solidFill>
                  <a:srgbClr val="0D3349"/>
                </a:solidFill>
                <a:latin typeface="Arial" pitchFamily="34" charset="0"/>
                <a:ea typeface="Arial" pitchFamily="34" charset="-122"/>
                <a:cs typeface="Arial" pitchFamily="34" charset="-120"/>
              </a:rPr>
              <a:t>❯  MVVM Architecture</a:t>
            </a:r>
            <a:endParaRPr lang="en-US" sz="1350" dirty="0"/>
          </a:p>
        </p:txBody>
      </p:sp>
      <p:sp>
        <p:nvSpPr>
          <p:cNvPr id="23" name="Shape 20"/>
          <p:cNvSpPr/>
          <p:nvPr/>
        </p:nvSpPr>
        <p:spPr>
          <a:xfrm>
            <a:off x="0" y="4873752"/>
            <a:ext cx="9144000" cy="269748"/>
          </a:xfrm>
          <a:prstGeom prst="rect">
            <a:avLst/>
          </a:prstGeom>
          <a:solidFill>
            <a:srgbClr val="C9956A"/>
          </a:solidFill>
          <a:ln w="12700">
            <a:solidFill>
              <a:srgbClr val="C9956A"/>
            </a:solidFill>
            <a:prstDash val="solid"/>
          </a:ln>
        </p:spPr>
      </p:sp>
      <p:sp>
        <p:nvSpPr>
          <p:cNvPr id="24" name="Text 21"/>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25" name="Text 22"/>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AE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E8B89A"/>
          </a:solidFill>
          <a:ln w="12700">
            <a:solidFill>
              <a:srgbClr val="E8B89A"/>
            </a:solidFill>
            <a:prstDash val="solid"/>
          </a:ln>
        </p:spPr>
      </p:sp>
      <p:pic>
        <p:nvPicPr>
          <p:cNvPr id="3" name="Image 0" descr="/home/claude/unpacked_orig/ppt/media/image3.jpeg">    </p:cNvPr>
          <p:cNvPicPr>
            <a:picLocks noChangeAspect="1"/>
          </p:cNvPicPr>
          <p:nvPr/>
        </p:nvPicPr>
        <p:blipFill>
          <a:blip r:embed="rId1"/>
          <a:stretch>
            <a:fillRect/>
          </a:stretch>
        </p:blipFill>
        <p:spPr>
          <a:xfrm>
            <a:off x="45720" y="27432"/>
            <a:ext cx="841248" cy="841248"/>
          </a:xfrm>
          <a:prstGeom prst="rect">
            <a:avLst/>
          </a:prstGeom>
        </p:spPr>
      </p:pic>
      <p:sp>
        <p:nvSpPr>
          <p:cNvPr id="4" name="Text 1"/>
          <p:cNvSpPr/>
          <p:nvPr/>
        </p:nvSpPr>
        <p:spPr>
          <a:xfrm>
            <a:off x="8046720" y="91440"/>
            <a:ext cx="1051560" cy="320040"/>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CSE(AI&amp;ML)</a:t>
            </a:r>
            <a:endParaRPr lang="en-US" sz="1100" dirty="0"/>
          </a:p>
        </p:txBody>
      </p:sp>
      <p:sp>
        <p:nvSpPr>
          <p:cNvPr id="5" name="Text 2"/>
          <p:cNvSpPr/>
          <p:nvPr/>
        </p:nvSpPr>
        <p:spPr>
          <a:xfrm>
            <a:off x="896112" y="18288"/>
            <a:ext cx="7269480" cy="502920"/>
          </a:xfrm>
          <a:prstGeom prst="rect">
            <a:avLst/>
          </a:prstGeom>
          <a:noFill/>
          <a:ln/>
        </p:spPr>
        <p:txBody>
          <a:bodyPr wrap="square" rtlCol="0" anchor="ctr"/>
          <a:lstStyle/>
          <a:p>
            <a:pPr algn="ctr" indent="0" marL="0">
              <a:buNone/>
            </a:pPr>
            <a:r>
              <a:rPr lang="en-US" sz="2600" b="1" dirty="0">
                <a:solidFill>
                  <a:srgbClr val="8B2500"/>
                </a:solidFill>
                <a:latin typeface="Arial Black" pitchFamily="34" charset="0"/>
                <a:ea typeface="Arial Black" pitchFamily="34" charset="-122"/>
                <a:cs typeface="Arial Black" pitchFamily="34" charset="-120"/>
              </a:rPr>
              <a:t>SAI VIDYA INSTITUTE OF TECHNOLOGY</a:t>
            </a:r>
            <a:endParaRPr lang="en-US" sz="2600" dirty="0"/>
          </a:p>
        </p:txBody>
      </p:sp>
      <p:sp>
        <p:nvSpPr>
          <p:cNvPr id="6" name="Text 3"/>
          <p:cNvSpPr/>
          <p:nvPr/>
        </p:nvSpPr>
        <p:spPr>
          <a:xfrm>
            <a:off x="896112" y="521208"/>
            <a:ext cx="7269480" cy="347472"/>
          </a:xfrm>
          <a:prstGeom prst="rect">
            <a:avLst/>
          </a:prstGeom>
          <a:noFill/>
          <a:ln/>
        </p:spPr>
        <p:txBody>
          <a:bodyPr wrap="square" rtlCol="0" anchor="ctr"/>
          <a:lstStyle/>
          <a:p>
            <a:pPr algn="ctr" indent="0" marL="0">
              <a:buNone/>
            </a:pPr>
            <a:r>
              <a:rPr lang="en-US" sz="900" dirty="0">
                <a:solidFill>
                  <a:srgbClr val="0D3349"/>
                </a:solidFill>
                <a:latin typeface="Arial" pitchFamily="34" charset="0"/>
                <a:ea typeface="Arial" pitchFamily="34" charset="-122"/>
                <a:cs typeface="Arial" pitchFamily="34" charset="-120"/>
              </a:rPr>
              <a:t>Approved by AICTE, New Delhi, Affiliated to VTU, Recognized by Govt. of Karnataka, Accredited by NBA, New Delhi (CSE, ECE. ISE) NAAC "A" Grade</a:t>
            </a:r>
            <a:endParaRPr lang="en-US" sz="900" dirty="0"/>
          </a:p>
        </p:txBody>
      </p:sp>
      <p:sp>
        <p:nvSpPr>
          <p:cNvPr id="7" name="Text 4"/>
          <p:cNvSpPr/>
          <p:nvPr/>
        </p:nvSpPr>
        <p:spPr>
          <a:xfrm>
            <a:off x="0" y="1371600"/>
            <a:ext cx="9144000" cy="3200400"/>
          </a:xfrm>
          <a:prstGeom prst="rect">
            <a:avLst/>
          </a:prstGeom>
          <a:noFill/>
          <a:ln/>
        </p:spPr>
        <p:txBody>
          <a:bodyPr wrap="square" rtlCol="0" anchor="ctr"/>
          <a:lstStyle/>
          <a:p>
            <a:pPr algn="ctr" indent="0" marL="0">
              <a:buNone/>
            </a:pPr>
            <a:r>
              <a:rPr lang="en-US" sz="9600" b="1" dirty="0">
                <a:solidFill>
                  <a:srgbClr val="0D3349"/>
                </a:solidFill>
                <a:latin typeface="Arial Black" pitchFamily="34" charset="0"/>
                <a:ea typeface="Arial Black" pitchFamily="34" charset="-122"/>
                <a:cs typeface="Arial Black" pitchFamily="34" charset="-120"/>
              </a:rPr>
              <a:t>THANK YOU</a:t>
            </a:r>
            <a:endParaRPr lang="en-US" sz="9600" dirty="0"/>
          </a:p>
        </p:txBody>
      </p:sp>
      <p:sp>
        <p:nvSpPr>
          <p:cNvPr id="8" name="Shape 5"/>
          <p:cNvSpPr/>
          <p:nvPr/>
        </p:nvSpPr>
        <p:spPr>
          <a:xfrm>
            <a:off x="0" y="4873752"/>
            <a:ext cx="9144000" cy="269748"/>
          </a:xfrm>
          <a:prstGeom prst="rect">
            <a:avLst/>
          </a:prstGeom>
          <a:solidFill>
            <a:srgbClr val="C9956A"/>
          </a:solidFill>
          <a:ln w="12700">
            <a:solidFill>
              <a:srgbClr val="C9956A"/>
            </a:solidFill>
            <a:prstDash val="solid"/>
          </a:ln>
        </p:spPr>
      </p:sp>
      <p:sp>
        <p:nvSpPr>
          <p:cNvPr id="9" name="Text 6"/>
          <p:cNvSpPr/>
          <p:nvPr/>
        </p:nvSpPr>
        <p:spPr>
          <a:xfrm>
            <a:off x="91440" y="4873752"/>
            <a:ext cx="3657600" cy="269748"/>
          </a:xfrm>
          <a:prstGeom prst="rect">
            <a:avLst/>
          </a:prstGeom>
          <a:noFill/>
          <a:ln/>
        </p:spPr>
        <p:txBody>
          <a:bodyPr wrap="square" rtlCol="0" anchor="ctr"/>
          <a:lstStyle/>
          <a:p>
            <a:pPr indent="0" marL="0">
              <a:buNone/>
            </a:pPr>
            <a:r>
              <a:rPr lang="en-US" sz="1100" b="1" dirty="0">
                <a:solidFill>
                  <a:srgbClr val="0D3349"/>
                </a:solidFill>
                <a:latin typeface="Arial" pitchFamily="34" charset="0"/>
                <a:ea typeface="Arial" pitchFamily="34" charset="-122"/>
                <a:cs typeface="Arial" pitchFamily="34" charset="-120"/>
              </a:rPr>
              <a:t>INTERNSHIP(BINT803B)</a:t>
            </a:r>
            <a:endParaRPr lang="en-US" sz="1100" dirty="0"/>
          </a:p>
        </p:txBody>
      </p:sp>
      <p:sp>
        <p:nvSpPr>
          <p:cNvPr id="10" name="Text 7"/>
          <p:cNvSpPr/>
          <p:nvPr/>
        </p:nvSpPr>
        <p:spPr>
          <a:xfrm>
            <a:off x="8778240" y="4873752"/>
            <a:ext cx="320040" cy="269748"/>
          </a:xfrm>
          <a:prstGeom prst="rect">
            <a:avLst/>
          </a:prstGeom>
          <a:noFill/>
          <a:ln/>
        </p:spPr>
        <p:txBody>
          <a:bodyPr wrap="square" rtlCol="0" anchor="ctr"/>
          <a:lstStyle/>
          <a:p>
            <a:pPr algn="r" indent="0" marL="0">
              <a:buNone/>
            </a:pPr>
            <a:r>
              <a:rPr lang="en-US" sz="1200" b="1" dirty="0">
                <a:solidFill>
                  <a:srgbClr val="0D3349"/>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2026-05-18T09:14:39Z</dcterms:created>
  <dcterms:modified xsi:type="dcterms:W3CDTF">2026-05-18T09:14:39Z</dcterms:modified>
</cp:coreProperties>
</file>